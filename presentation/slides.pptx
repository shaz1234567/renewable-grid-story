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0:00–1:00 — Slide 1: Opening</a:t>
            </a:r>
          </a:p>
          <a:p/>
          <a:p>
            <a:r>
              <a:t>“My project is *The Renewable Grid, Hour by Hour*, a six-view interactive story built from 2025 EIA-930 operating data.”</a:t>
            </a:r>
          </a:p>
          <a:p/>
          <a:p>
            <a:r>
              <a:t>State the central question: how can a reader understand changes across a day, a year, and multiple regions without losing scale, variability, missingness, or methodological limits?</a:t>
            </a:r>
          </a:p>
          <a:p/>
          <a:p>
            <a:r>
              <a:t>Preview the argument: absolute output and renewable share tell different stories, and combining renewable sources can smooth some signals without always beating the steadiest component.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1:00–2:00 — Slide 2: Audience and narrative design</a:t>
            </a:r>
          </a:p>
          <a:p/>
          <a:p>
            <a:r>
              <a:t>Identify the audience as students, instructors, and interested public readers with basic chart literacy.</a:t>
            </a:r>
          </a:p>
          <a:p/>
          <a:p>
            <a:r>
              <a:t>Explain the sequence:</a:t>
            </a:r>
          </a:p>
          <a:p/>
          <a:p>
            <a:r>
              <a:t>1. whole-system context;</a:t>
            </a:r>
          </a:p>
          <a:p>
            <a:r>
              <a:t>2. one renewable day;</a:t>
            </a:r>
          </a:p>
          <a:p>
            <a:r>
              <a:t>3. annual source patterns;</a:t>
            </a:r>
          </a:p>
          <a:p>
            <a:r>
              <a:t>4. regional comparison;</a:t>
            </a:r>
          </a:p>
          <a:p>
            <a:r>
              <a:t>5. numerical variability; and</a:t>
            </a:r>
          </a:p>
          <a:p>
            <a:r>
              <a:t>6. portfolio complementarity.</a:t>
            </a:r>
          </a:p>
          <a:p/>
          <a:p>
            <a:r>
              <a:t>Emphasize that this is descriptive visualization—not a forecast, causal dispatch explanation, capacity-factor study, or reliability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2:00–3:10 — Slide 3: Preparation-code talking points</a:t>
            </a:r>
          </a:p>
          <a:p/>
          <a:p>
            <a:r>
              <a:t>Use these concise code-level points:</a:t>
            </a:r>
          </a:p>
          <a:p/>
          <a:p>
            <a:r>
              <a:t>- The source is a fixed Zenodo record of EIA Form 930, version 97.0.0.</a:t>
            </a:r>
          </a:p>
          <a:p>
            <a:r>
              <a:t>- The download stage verifies published MD5 values and records SHA-256 checksums.</a:t>
            </a:r>
          </a:p>
          <a:p>
            <a:r>
              <a:t>- Preparation filters CISO, ERCO, NYIS, and PJM.</a:t>
            </a:r>
          </a:p>
          <a:p>
            <a:r>
              <a:t>- For each field, adjusted values are preferred, then imputed, then raw.</a:t>
            </a:r>
          </a:p>
          <a:p>
            <a:r>
              <a:t>- Solar combines with- and without-integrated-battery reporting; wind does the same.</a:t>
            </a:r>
          </a:p>
          <a:p>
            <a:r>
              <a:t>- Renewables equal solar + wind + hydropower excluding pumped storage.</a:t>
            </a:r>
          </a:p>
          <a:p>
            <a:r>
              <a:t>- Standalone and pumped storage are excluded from the primary mix.</a:t>
            </a:r>
          </a:p>
          <a:p>
            <a:r>
              <a:t>- One-hour average MW sums to MWh; daily curves are available-hour arithmetic means.</a:t>
            </a:r>
          </a:p>
          <a:p>
            <a:r>
              <a:t>- Missing values remain gaps rather than being filled after preparation.</a:t>
            </a:r>
          </a:p>
          <a:p/>
          <a:p>
            <a:r>
              <a:t>Mention that the processed result is 35,040 rows: 8,760 per authority.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3:10–4:00 — Slide 4: Validation</a:t>
            </a:r>
          </a:p>
          <a:p/>
          <a:p>
            <a:r>
              <a:t>Say clearly: “Validation is not entirely clean.”</a:t>
            </a:r>
          </a:p>
          <a:p/>
          <a:p>
            <a:r>
              <a:t>- 10 of 11 persisted checks pass.</a:t>
            </a:r>
          </a:p>
          <a:p>
            <a:r>
              <a:t>- Coverage, unique timestamps, hourly continuity, arithmetic, archive integrity, and versioned provenance pass.</a:t>
            </a:r>
          </a:p>
          <a:p>
            <a:r>
              <a:t>- The required-values check fails.</a:t>
            </a:r>
          </a:p>
          <a:p>
            <a:r>
              <a:t>- There are **31 missing renewable and generation-mix rows**, plus 25 missing demand and net-generation rows.</a:t>
            </a:r>
          </a:p>
          <a:p>
            <a:r>
              <a:t>- The app reports missing values beside affected selections.</a:t>
            </a:r>
          </a:p>
          <a:p/>
          <a:p>
            <a:r>
              <a:t>Mention the 20 automated tests, but distinguish tests from audience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4:00–4:50 — Slide 5 + live View 1: Generation mix</a:t>
            </a:r>
          </a:p>
          <a:p/>
          <a:p>
            <a:r>
              <a:t>Switch to the local application at &lt;http://127.0.0.1:8050/#view-1&gt;.</a:t>
            </a:r>
          </a:p>
          <a:p/>
          <a:p>
            <a:r>
              <a:t>Demo route:</a:t>
            </a:r>
          </a:p>
          <a:p/>
          <a:p>
            <a:r>
              <a:t>1. Confirm CISO and June 15, 2025.</a:t>
            </a:r>
          </a:p>
          <a:p>
            <a:r>
              <a:t>2. Hover across the stacked mix.</a:t>
            </a:r>
          </a:p>
          <a:p>
            <a:r>
              <a:t>3. Point to the takeaway and missing-data notice.</a:t>
            </a:r>
          </a:p>
          <a:p>
            <a:r>
              <a:t>4. Briefly switch authority or date, then return to the default.</a:t>
            </a:r>
          </a:p>
          <a:p/>
          <a:p>
            <a:r>
              <a:t>Finding: solar has the largest summed hourly average on the default CISO day, about 35.1% of the positive reported mix. Explain that “positive reported mix” avoids allowing retained negative reports to distort the denominator.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4:50–5:40 — Slide 6 + live View 2: Hourly playback</a:t>
            </a:r>
          </a:p>
          <a:p/>
          <a:p>
            <a:r>
              <a:t>Navigate to `#view-2`.</a:t>
            </a:r>
          </a:p>
          <a:p/>
          <a:p>
            <a:r>
              <a:t>1. Click Reset.</a:t>
            </a:r>
          </a:p>
          <a:p>
            <a:r>
              <a:t>2. Click Next twice.</a:t>
            </a:r>
          </a:p>
          <a:p>
            <a:r>
              <a:t>3. Click Play, let several points appear, then Pause.</a:t>
            </a:r>
          </a:p>
          <a:p>
            <a:r>
              <a:t>4. Drag the slider toward the last observation.</a:t>
            </a:r>
          </a:p>
          <a:p/>
          <a:p>
            <a:r>
              <a:t>Explain that the maximum is based on the selected day’s actual record count, supporting 23- and 25-observation daylight-saving days. Playback is clamped at both boundaries.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5:40–6:35 — Slide 7 + live View 3: Annual pulse</a:t>
            </a:r>
          </a:p>
          <a:p/>
          <a:p>
            <a:r>
              <a:t>Navigate to `#view-3`.</a:t>
            </a:r>
          </a:p>
          <a:p/>
          <a:p>
            <a:r>
              <a:t>1. Show all three sources in absolute mode.</a:t>
            </a:r>
          </a:p>
          <a:p>
            <a:r>
              <a:t>2. Toggle individual source checkboxes.</a:t>
            </a:r>
          </a:p>
          <a:p>
            <a:r>
              <a:t>3. Switch to Normalized.</a:t>
            </a:r>
          </a:p>
          <a:p/>
          <a:p>
            <a:r>
              <a:t>Say: “Each source is divided by its own annual peak. A value of 100% means that source’s peak, not equal MW and not renewable share.” Use the normalized mode to discuss shape and the absolute mode to discuss magnitude.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6:35–7:30 — Slide 8 + live View 4: Regional comparison</a:t>
            </a:r>
          </a:p>
          <a:p/>
          <a:p>
            <a:r>
              <a:t>Navigate to `#view-4`.</a:t>
            </a:r>
          </a:p>
          <a:p/>
          <a:p>
            <a:r>
              <a:t>1. Keep CISO and ERCO.</a:t>
            </a:r>
          </a:p>
          <a:p>
            <a:r>
              <a:t>2. Keep solar and the full 2025 period.</a:t>
            </a:r>
          </a:p>
          <a:p>
            <a:r>
              <a:t>3. Toggle Raw MW to Normalized and back.</a:t>
            </a:r>
          </a:p>
          <a:p>
            <a:r>
              <a:t>4. Point out that both series use exactly the same operating dates.</a:t>
            </a:r>
          </a:p>
          <a:p/>
          <a:p>
            <a:r>
              <a:t>Finding: ERCO’s 2025 hourly mean solar is about 7,723.9 MW versus CISO’s 5,667.9 MW—about 1.36 times as high. Clarify that map points are schematic references, not balancing-authority boundaries.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7:30–8:30 — Slide 9 + live View 5: Variability</a:t>
            </a:r>
          </a:p>
          <a:p/>
          <a:p>
            <a:r>
              <a:t>Navigate to `#view-5`.</a:t>
            </a:r>
          </a:p>
          <a:p/>
          <a:p>
            <a:r>
              <a:t>Read selected CISO solar metrics:</a:t>
            </a:r>
          </a:p>
          <a:p/>
          <a:p>
            <a:r>
              <a:t>- mean: 5,667.9 MW;</a:t>
            </a:r>
          </a:p>
          <a:p>
            <a:r>
              <a:t>- maximum: 18,912 MW;</a:t>
            </a:r>
          </a:p>
          <a:p>
            <a:r>
              <a:t>- sample standard deviation: 6,818.2 MW; and</a:t>
            </a:r>
          </a:p>
          <a:p>
            <a:r>
              <a:t>- CV: 1.203.</a:t>
            </a:r>
          </a:p>
          <a:p/>
          <a:p>
            <a:r>
              <a:t>Explain CV as sample standard deviation divided by the absolute mean. It compares relative spread, but it is not predictability, ramping difficulty, forecast error, or reliability. If the mean is zero—as with available NYIS solar values—the implemented result is “undefined.”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8:30–9:40 — Slide 10 + live View 6: Portfolio</a:t>
            </a:r>
          </a:p>
          <a:p/>
          <a:p>
            <a:r>
              <a:t>Before revealing the comparison, ask the class:</a:t>
            </a:r>
          </a:p>
          <a:p/>
          <a:p>
            <a:r>
              <a:t>&gt; If solar, wind, and hydropower are combined, will the portfolio always have the lowest coefficient of variation?</a:t>
            </a:r>
          </a:p>
          <a:p/>
          <a:p>
            <a:r>
              <a:t>Pause briefly for responses, then navigate to `#view-6`.</a:t>
            </a:r>
          </a:p>
          <a:p/>
          <a:p>
            <a:r>
              <a:t>1. Show all three selected sources.</a:t>
            </a:r>
          </a:p>
          <a:p>
            <a:r>
              <a:t>2. Point to the combined daily-mean line.</a:t>
            </a:r>
          </a:p>
          <a:p>
            <a:r>
              <a:t>3. Point to the CV comparison chart.</a:t>
            </a:r>
          </a:p>
          <a:p>
            <a:r>
              <a:t>4. Toggle one source off, then use Reset sources.</a:t>
            </a:r>
          </a:p>
          <a:p/>
          <a:p>
            <a:r>
              <a:t>Finding: CISO 2025 CVs are solar 1.203, wind 0.595, hydropower 0.463, and combined 0.590. The portfolio is lower than solar and wind, but not lower than hydropower. The outcome depends on covariance, source choice, region, and period.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9:40–10:40 — Slide 11: Main annual findings</a:t>
            </a:r>
          </a:p>
          <a:p/>
          <a:p>
            <a:r>
              <a:t>Return to slides.</a:t>
            </a:r>
          </a:p>
          <a:p/>
          <a:p>
            <a:r>
              <a:t>- ERCO: 182.821 million MWh renewables, the largest absolute output; 37.583% share.</a:t>
            </a:r>
          </a:p>
          <a:p>
            <a:r>
              <a:t>- CISO: 90.819 million MWh; the largest share at 48.744%.</a:t>
            </a:r>
          </a:p>
          <a:p>
            <a:r>
              <a:t>- NYIS: 31.137 million MWh; 23.500%.</a:t>
            </a:r>
          </a:p>
          <a:p>
            <a:r>
              <a:t>- PJM: 72.299 million MWh; 8.255%.</a:t>
            </a:r>
          </a:p>
          <a:p/>
          <a:p>
            <a:r>
              <a:t>Explain why this matters: PJM exceeds NYIS in absolute renewable energy but has a much lower share because its net generation is much larger. A single ranking cannot answer both scale and composition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10:40–11:35 — Slide 12: Evaluation and limitations</a:t>
            </a:r>
          </a:p>
          <a:p/>
          <a:p>
            <a:r>
              <a:t>Completed evidence:</a:t>
            </a:r>
          </a:p>
          <a:p/>
          <a:p>
            <a:r>
              <a:t>- 20 automated tests;</a:t>
            </a:r>
          </a:p>
          <a:p>
            <a:r>
              <a:t>- internal desktop and mobile rendering checks;</a:t>
            </a:r>
          </a:p>
          <a:p>
            <a:r>
              <a:t>- playback and normalized-control checks; and</a:t>
            </a:r>
          </a:p>
          <a:p>
            <a:r>
              <a:t>- six reproducible screenshots.</a:t>
            </a:r>
          </a:p>
          <a:p/>
          <a:p>
            <a:r>
              <a:t>Human evaluation:</a:t>
            </a:r>
          </a:p>
          <a:p/>
          <a:p>
            <a:r>
              <a:t>- one visual review identified overlapping chart titles and legends;</a:t>
            </a:r>
          </a:p>
          <a:p>
            <a:r>
              <a:t>- the accepted revision separated title/legend zones, improved responsive spacing, and added a colorblind-safe palette; and</a:t>
            </a:r>
          </a:p>
          <a:p>
            <a:r>
              <a:t>- a broader target-audience comprehension session remains pending.</a:t>
            </a:r>
          </a:p>
          <a:p/>
          <a:p>
            <a:r>
              <a:t>Key limitations: one year, four authorities, 31 renewable/mix gaps, authority-specific reporting, no capacity normalization, schematic map, and descriptive CV.</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11:35–12:25 — Slide 13: Answer and contribution</a:t>
            </a:r>
          </a:p>
          <a:p/>
          <a:p>
            <a:r>
              <a:t>Answer the class question: no, a portfolio does not automatically have the lowest CV.</a:t>
            </a:r>
          </a:p>
          <a:p/>
          <a:p>
            <a:r>
              <a:t>Summarize the project contribution:</a:t>
            </a:r>
          </a:p>
          <a:p/>
          <a:p>
            <a:r>
              <a:t>- a coherent six-view explanatory sequence;</a:t>
            </a:r>
          </a:p>
          <a:p>
            <a:r>
              <a:t>- reproducible source-to-figure workflow;</a:t>
            </a:r>
          </a:p>
          <a:p>
            <a:r>
              <a:t>- explicit equations and boundary behavior;</a:t>
            </a:r>
          </a:p>
          <a:p>
            <a:r>
              <a:t>- honest disclosure of failed validation and pending human testing.</a:t>
            </a:r>
          </a:p>
          <a:p/>
          <a:p>
            <a:r>
              <a:t>State that the Render URL has been verified and that the local app remains the presentation backup.</a:t>
            </a:r>
          </a:p>
          <a:p/>
          <a:p>
            <a:r>
              <a:t>12:25–13:00 — Close and questions</a:t>
            </a:r>
          </a:p>
          <a:p/>
          <a:p>
            <a:r>
              <a:t>Close with:</a:t>
            </a:r>
          </a:p>
          <a:p/>
          <a:p>
            <a:r>
              <a:t>“The key lesson is that renewable output has to be read in context: by hour, season, place, scale, and variability. The interface makes those comparisons available while keeping the missing data and analytical limits visible.”</a:t>
            </a:r>
          </a:p>
          <a:p/>
          <a:p>
            <a:r>
              <a:t>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02B"/>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3B6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325880"/>
            <a:ext cx="10698480" cy="1828800"/>
          </a:xfrm>
          <a:prstGeom prst="rect">
            <a:avLst/>
          </a:prstGeom>
          <a:noFill/>
        </p:spPr>
        <p:txBody>
          <a:bodyPr wrap="none">
            <a:spAutoFit/>
          </a:bodyPr>
          <a:lstStyle/>
          <a:p>
            <a:pPr>
              <a:defRPr sz="4300" b="1">
                <a:solidFill>
                  <a:srgbClr val="FFFFFF"/>
                </a:solidFill>
                <a:latin typeface="Aptos Display"/>
              </a:defRPr>
            </a:pPr>
            <a:r>
              <a:t>The Renewable Grid,</a:t>
            </a:r>
            <a:br/>
            <a:r>
              <a:t>Hour by Hour</a:t>
            </a:r>
          </a:p>
        </p:txBody>
      </p:sp>
      <p:sp>
        <p:nvSpPr>
          <p:cNvPr id="4" name="TextBox 3"/>
          <p:cNvSpPr txBox="1"/>
          <p:nvPr/>
        </p:nvSpPr>
        <p:spPr>
          <a:xfrm>
            <a:off x="822960" y="3749039"/>
            <a:ext cx="9875520" cy="1097280"/>
          </a:xfrm>
          <a:prstGeom prst="rect">
            <a:avLst/>
          </a:prstGeom>
          <a:noFill/>
        </p:spPr>
        <p:txBody>
          <a:bodyPr wrap="none">
            <a:spAutoFit/>
          </a:bodyPr>
          <a:lstStyle/>
          <a:p>
            <a:pPr>
              <a:defRPr sz="2000">
                <a:solidFill>
                  <a:srgbClr val="EDF4F1"/>
                </a:solidFill>
                <a:latin typeface="Aptos"/>
              </a:defRPr>
            </a:pPr>
            <a:r>
              <a:t>A six-view interactive story using 2025 EIA-930 data</a:t>
            </a:r>
            <a:br/>
            <a:r>
              <a:t>Shazab Ali · 13-minute explanation and live demo</a:t>
            </a:r>
          </a:p>
        </p:txBody>
      </p:sp>
      <p:sp>
        <p:nvSpPr>
          <p:cNvPr id="5" name="Rectangle 4"/>
          <p:cNvSpPr/>
          <p:nvPr/>
        </p:nvSpPr>
        <p:spPr>
          <a:xfrm>
            <a:off x="594360" y="6547104"/>
            <a:ext cx="10972800" cy="18288"/>
          </a:xfrm>
          <a:prstGeom prst="rect">
            <a:avLst/>
          </a:prstGeom>
          <a:solidFill>
            <a:srgbClr val="ED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6583680"/>
            <a:ext cx="10881360" cy="182880"/>
          </a:xfrm>
          <a:prstGeom prst="rect">
            <a:avLst/>
          </a:prstGeom>
          <a:noFill/>
        </p:spPr>
        <p:txBody>
          <a:bodyPr wrap="none">
            <a:spAutoFit/>
          </a:bodyPr>
          <a:lstStyle/>
          <a:p>
            <a:pPr>
              <a:defRPr sz="800">
                <a:solidFill>
                  <a:srgbClr val="EDF4F1"/>
                </a:solidFill>
                <a:latin typeface="Aptos"/>
              </a:defRPr>
            </a:pPr>
            <a:r>
              <a:t>Shazab Ali · Renewable Grid Story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731520"/>
          </a:xfrm>
          <a:prstGeom prst="rect">
            <a:avLst/>
          </a:prstGeom>
          <a:noFill/>
        </p:spPr>
        <p:txBody>
          <a:bodyPr wrap="none">
            <a:spAutoFit/>
          </a:bodyPr>
          <a:lstStyle/>
          <a:p>
            <a:pPr>
              <a:defRPr sz="2800" b="1">
                <a:solidFill>
                  <a:srgbClr val="18302B"/>
                </a:solidFill>
                <a:latin typeface="Aptos Display"/>
              </a:defRPr>
            </a:pPr>
            <a:r>
              <a:t>Question, audience, and design</a:t>
            </a:r>
          </a:p>
        </p:txBody>
      </p:sp>
      <p:sp>
        <p:nvSpPr>
          <p:cNvPr id="3" name="TextBox 2"/>
          <p:cNvSpPr txBox="1"/>
          <p:nvPr/>
        </p:nvSpPr>
        <p:spPr>
          <a:xfrm>
            <a:off x="731520" y="1417320"/>
            <a:ext cx="10515600" cy="4663440"/>
          </a:xfrm>
          <a:prstGeom prst="rect">
            <a:avLst/>
          </a:prstGeom>
          <a:noFill/>
        </p:spPr>
        <p:txBody>
          <a:bodyPr wrap="square">
            <a:spAutoFit/>
          </a:bodyPr>
          <a:lstStyle/>
          <a:p>
            <a:pPr>
              <a:spcAft>
                <a:spcPts val="1200"/>
              </a:spcAft>
              <a:defRPr sz="1900">
                <a:solidFill>
                  <a:srgbClr val="18302B"/>
                </a:solidFill>
                <a:latin typeface="Aptos"/>
              </a:defRPr>
            </a:pPr>
            <a:r>
              <a:t>Question: how do renewable patterns change across hours, seasons, and regions?</a:t>
            </a:r>
          </a:p>
          <a:p>
            <a:pPr>
              <a:spcAft>
                <a:spcPts val="1200"/>
              </a:spcAft>
              <a:defRPr sz="1900">
                <a:solidFill>
                  <a:srgbClr val="18302B"/>
                </a:solidFill>
                <a:latin typeface="Aptos"/>
              </a:defRPr>
            </a:pPr>
            <a:r>
              <a:t>Audience: students, instructors, and interested public readers.</a:t>
            </a:r>
          </a:p>
          <a:p>
            <a:pPr>
              <a:spcAft>
                <a:spcPts val="1200"/>
              </a:spcAft>
              <a:defRPr sz="1900">
                <a:solidFill>
                  <a:srgbClr val="18302B"/>
                </a:solidFill>
                <a:latin typeface="Aptos"/>
              </a:defRPr>
            </a:pPr>
            <a:r>
              <a:t>Design: context → rhythm → seasons → regions → variability → portfolio.</a:t>
            </a:r>
          </a:p>
          <a:p>
            <a:pPr>
              <a:spcAft>
                <a:spcPts val="1200"/>
              </a:spcAft>
              <a:defRPr sz="1900">
                <a:solidFill>
                  <a:srgbClr val="18302B"/>
                </a:solidFill>
                <a:latin typeface="Aptos"/>
              </a:defRPr>
            </a:pPr>
            <a:r>
              <a:t>Guardrail: descriptive evidence, not dispatch causation or forecasting.</a:t>
            </a:r>
          </a:p>
        </p:txBody>
      </p:sp>
      <p:sp>
        <p:nvSpPr>
          <p:cNvPr id="4" name="Rectangle 3"/>
          <p:cNvSpPr/>
          <p:nvPr/>
        </p:nvSpPr>
        <p:spPr>
          <a:xfrm>
            <a:off x="594360" y="6547104"/>
            <a:ext cx="10972800" cy="18288"/>
          </a:xfrm>
          <a:prstGeom prst="rect">
            <a:avLst/>
          </a:prstGeom>
          <a:solidFill>
            <a:srgbClr val="147D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83680"/>
            <a:ext cx="10881360" cy="182880"/>
          </a:xfrm>
          <a:prstGeom prst="rect">
            <a:avLst/>
          </a:prstGeom>
          <a:noFill/>
        </p:spPr>
        <p:txBody>
          <a:bodyPr wrap="none">
            <a:spAutoFit/>
          </a:bodyPr>
          <a:lstStyle/>
          <a:p>
            <a:pPr>
              <a:defRPr sz="800">
                <a:solidFill>
                  <a:srgbClr val="18302B"/>
                </a:solidFill>
                <a:latin typeface="Aptos"/>
              </a:defRPr>
            </a:pPr>
            <a:r>
              <a:t>Shazab Ali · Renewable Grid Story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731520"/>
          </a:xfrm>
          <a:prstGeom prst="rect">
            <a:avLst/>
          </a:prstGeom>
          <a:noFill/>
        </p:spPr>
        <p:txBody>
          <a:bodyPr wrap="none">
            <a:spAutoFit/>
          </a:bodyPr>
          <a:lstStyle/>
          <a:p>
            <a:pPr>
              <a:defRPr sz="2800" b="1">
                <a:solidFill>
                  <a:srgbClr val="18302B"/>
                </a:solidFill>
                <a:latin typeface="Aptos Display"/>
              </a:defRPr>
            </a:pPr>
            <a:r>
              <a:t>Reproducible data workflow</a:t>
            </a:r>
          </a:p>
        </p:txBody>
      </p:sp>
      <p:sp>
        <p:nvSpPr>
          <p:cNvPr id="3" name="TextBox 2"/>
          <p:cNvSpPr txBox="1"/>
          <p:nvPr/>
        </p:nvSpPr>
        <p:spPr>
          <a:xfrm>
            <a:off x="621792" y="960120"/>
            <a:ext cx="10789920" cy="411480"/>
          </a:xfrm>
          <a:prstGeom prst="rect">
            <a:avLst/>
          </a:prstGeom>
          <a:noFill/>
        </p:spPr>
        <p:txBody>
          <a:bodyPr wrap="none">
            <a:spAutoFit/>
          </a:bodyPr>
          <a:lstStyle/>
          <a:p>
            <a:pPr>
              <a:defRPr sz="1200">
                <a:solidFill>
                  <a:srgbClr val="147D64"/>
                </a:solidFill>
                <a:latin typeface="Aptos"/>
              </a:defRPr>
            </a:pPr>
            <a:r>
              <a:t>EIA-930 → verified archives → 35,040 hourly records → six views</a:t>
            </a:r>
          </a:p>
        </p:txBody>
      </p:sp>
      <p:sp>
        <p:nvSpPr>
          <p:cNvPr id="4" name="Rounded Rectangle 3"/>
          <p:cNvSpPr/>
          <p:nvPr/>
        </p:nvSpPr>
        <p:spPr>
          <a:xfrm>
            <a:off x="594360" y="1828800"/>
            <a:ext cx="2423160" cy="2148840"/>
          </a:xfrm>
          <a:prstGeom prst="roundRect">
            <a:avLst/>
          </a:prstGeom>
          <a:solidFill>
            <a:srgbClr val="EDF4F1"/>
          </a:solidFill>
          <a:ln>
            <a:solidFill>
              <a:srgbClr val="147D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100" b="1">
                <a:solidFill>
                  <a:srgbClr val="F3B61F"/>
                </a:solidFill>
              </a:defRPr>
            </a:pPr>
            <a:r>
              <a:t>1</a:t>
            </a:r>
          </a:p>
          <a:p>
            <a:pPr algn="ctr">
              <a:defRPr sz="2000" b="1">
                <a:solidFill>
                  <a:srgbClr val="18302B"/>
                </a:solidFill>
              </a:defRPr>
            </a:pPr>
            <a:r>
              <a:t>Verify</a:t>
            </a:r>
          </a:p>
          <a:p>
            <a:pPr algn="ctr">
              <a:defRPr sz="1200">
                <a:solidFill>
                  <a:srgbClr val="147D64"/>
                </a:solidFill>
              </a:defRPr>
            </a:pPr>
            <a:r>
              <a:t>MD5 + SHA-256</a:t>
            </a:r>
          </a:p>
        </p:txBody>
      </p:sp>
      <p:sp>
        <p:nvSpPr>
          <p:cNvPr id="5" name="Rounded Rectangle 4"/>
          <p:cNvSpPr/>
          <p:nvPr/>
        </p:nvSpPr>
        <p:spPr>
          <a:xfrm>
            <a:off x="3474720" y="1828800"/>
            <a:ext cx="2423160" cy="2148840"/>
          </a:xfrm>
          <a:prstGeom prst="roundRect">
            <a:avLst/>
          </a:prstGeom>
          <a:solidFill>
            <a:srgbClr val="EDF4F1"/>
          </a:solidFill>
          <a:ln>
            <a:solidFill>
              <a:srgbClr val="147D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100" b="1">
                <a:solidFill>
                  <a:srgbClr val="F3B61F"/>
                </a:solidFill>
              </a:defRPr>
            </a:pPr>
            <a:r>
              <a:t>2</a:t>
            </a:r>
          </a:p>
          <a:p>
            <a:pPr algn="ctr">
              <a:defRPr sz="2000" b="1">
                <a:solidFill>
                  <a:srgbClr val="18302B"/>
                </a:solidFill>
              </a:defRPr>
            </a:pPr>
            <a:r>
              <a:t>Prepare</a:t>
            </a:r>
          </a:p>
          <a:p>
            <a:pPr algn="ctr">
              <a:defRPr sz="1200">
                <a:solidFill>
                  <a:srgbClr val="147D64"/>
                </a:solidFill>
              </a:defRPr>
            </a:pPr>
            <a:r>
              <a:t>adjusted → imputed → raw</a:t>
            </a:r>
          </a:p>
        </p:txBody>
      </p:sp>
      <p:sp>
        <p:nvSpPr>
          <p:cNvPr id="6" name="Rounded Rectangle 5"/>
          <p:cNvSpPr/>
          <p:nvPr/>
        </p:nvSpPr>
        <p:spPr>
          <a:xfrm>
            <a:off x="6355080" y="1828800"/>
            <a:ext cx="2423160" cy="2148840"/>
          </a:xfrm>
          <a:prstGeom prst="roundRect">
            <a:avLst/>
          </a:prstGeom>
          <a:solidFill>
            <a:srgbClr val="EDF4F1"/>
          </a:solidFill>
          <a:ln>
            <a:solidFill>
              <a:srgbClr val="147D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100" b="1">
                <a:solidFill>
                  <a:srgbClr val="F3B61F"/>
                </a:solidFill>
              </a:defRPr>
            </a:pPr>
            <a:r>
              <a:t>3</a:t>
            </a:r>
          </a:p>
          <a:p>
            <a:pPr algn="ctr">
              <a:defRPr sz="2000" b="1">
                <a:solidFill>
                  <a:srgbClr val="18302B"/>
                </a:solidFill>
              </a:defRPr>
            </a:pPr>
            <a:r>
              <a:t>Aggregate</a:t>
            </a:r>
          </a:p>
          <a:p>
            <a:pPr algn="ctr">
              <a:defRPr sz="1200">
                <a:solidFill>
                  <a:srgbClr val="147D64"/>
                </a:solidFill>
              </a:defRPr>
            </a:pPr>
            <a:r>
              <a:t>solar + wind + hydro</a:t>
            </a:r>
          </a:p>
        </p:txBody>
      </p:sp>
      <p:sp>
        <p:nvSpPr>
          <p:cNvPr id="7" name="Rounded Rectangle 6"/>
          <p:cNvSpPr/>
          <p:nvPr/>
        </p:nvSpPr>
        <p:spPr>
          <a:xfrm>
            <a:off x="9235440" y="1828800"/>
            <a:ext cx="2423160" cy="2148840"/>
          </a:xfrm>
          <a:prstGeom prst="roundRect">
            <a:avLst/>
          </a:prstGeom>
          <a:solidFill>
            <a:srgbClr val="EDF4F1"/>
          </a:solidFill>
          <a:ln>
            <a:solidFill>
              <a:srgbClr val="147D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100" b="1">
                <a:solidFill>
                  <a:srgbClr val="F3B61F"/>
                </a:solidFill>
              </a:defRPr>
            </a:pPr>
            <a:r>
              <a:t>4</a:t>
            </a:r>
          </a:p>
          <a:p>
            <a:pPr algn="ctr">
              <a:defRPr sz="2000" b="1">
                <a:solidFill>
                  <a:srgbClr val="18302B"/>
                </a:solidFill>
              </a:defRPr>
            </a:pPr>
            <a:r>
              <a:t>Validate</a:t>
            </a:r>
          </a:p>
          <a:p>
            <a:pPr algn="ctr">
              <a:defRPr sz="1200">
                <a:solidFill>
                  <a:srgbClr val="147D64"/>
                </a:solidFill>
              </a:defRPr>
            </a:pPr>
            <a:r>
              <a:t>11 explicit checks</a:t>
            </a:r>
          </a:p>
        </p:txBody>
      </p:sp>
      <p:sp>
        <p:nvSpPr>
          <p:cNvPr id="8" name="TextBox 7"/>
          <p:cNvSpPr txBox="1"/>
          <p:nvPr/>
        </p:nvSpPr>
        <p:spPr>
          <a:xfrm>
            <a:off x="1097280" y="4617720"/>
            <a:ext cx="10058400" cy="914400"/>
          </a:xfrm>
          <a:prstGeom prst="rect">
            <a:avLst/>
          </a:prstGeom>
          <a:noFill/>
        </p:spPr>
        <p:txBody>
          <a:bodyPr wrap="square">
            <a:spAutoFit/>
          </a:bodyPr>
          <a:lstStyle/>
          <a:p>
            <a:pPr>
              <a:spcAft>
                <a:spcPts val="1200"/>
              </a:spcAft>
              <a:defRPr sz="1900">
                <a:solidFill>
                  <a:srgbClr val="18302B"/>
                </a:solidFill>
                <a:latin typeface="Aptos"/>
              </a:defRPr>
            </a:pPr>
            <a:r>
              <a:t>One-hour average MW sums to MWh; daily charts use available-hour means.</a:t>
            </a:r>
          </a:p>
        </p:txBody>
      </p:sp>
      <p:sp>
        <p:nvSpPr>
          <p:cNvPr id="9" name="Rectangle 8"/>
          <p:cNvSpPr/>
          <p:nvPr/>
        </p:nvSpPr>
        <p:spPr>
          <a:xfrm>
            <a:off x="594360" y="6547104"/>
            <a:ext cx="10972800" cy="18288"/>
          </a:xfrm>
          <a:prstGeom prst="rect">
            <a:avLst/>
          </a:prstGeom>
          <a:solidFill>
            <a:srgbClr val="147D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6583680"/>
            <a:ext cx="10881360" cy="182880"/>
          </a:xfrm>
          <a:prstGeom prst="rect">
            <a:avLst/>
          </a:prstGeom>
          <a:noFill/>
        </p:spPr>
        <p:txBody>
          <a:bodyPr wrap="none">
            <a:spAutoFit/>
          </a:bodyPr>
          <a:lstStyle/>
          <a:p>
            <a:pPr>
              <a:defRPr sz="800">
                <a:solidFill>
                  <a:srgbClr val="18302B"/>
                </a:solidFill>
                <a:latin typeface="Aptos"/>
              </a:defRPr>
            </a:pPr>
            <a:r>
              <a:t>Shazab Ali · Renewable Grid Story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731520"/>
          </a:xfrm>
          <a:prstGeom prst="rect">
            <a:avLst/>
          </a:prstGeom>
          <a:noFill/>
        </p:spPr>
        <p:txBody>
          <a:bodyPr wrap="none">
            <a:spAutoFit/>
          </a:bodyPr>
          <a:lstStyle/>
          <a:p>
            <a:pPr>
              <a:defRPr sz="2800" b="1">
                <a:solidFill>
                  <a:srgbClr val="18302B"/>
                </a:solidFill>
                <a:latin typeface="Aptos Display"/>
              </a:defRPr>
            </a:pPr>
            <a:r>
              <a:t>Validation is transparent—not “all clean”</a:t>
            </a:r>
          </a:p>
        </p:txBody>
      </p:sp>
      <p:sp>
        <p:nvSpPr>
          <p:cNvPr id="3" name="Rounded Rectangle 2"/>
          <p:cNvSpPr/>
          <p:nvPr/>
        </p:nvSpPr>
        <p:spPr>
          <a:xfrm>
            <a:off x="731520" y="1371600"/>
            <a:ext cx="2514600" cy="1143000"/>
          </a:xfrm>
          <a:prstGeom prst="roundRect">
            <a:avLst/>
          </a:prstGeom>
          <a:solidFill>
            <a:srgbClr val="EDF4F1"/>
          </a:solidFill>
          <a:ln>
            <a:solidFill>
              <a:srgbClr val="147D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47D64"/>
                </a:solidFill>
                <a:latin typeface="Aptos Display"/>
              </a:defRPr>
            </a:pPr>
            <a:r>
              <a:t>10 / 11</a:t>
            </a:r>
          </a:p>
          <a:p>
            <a:pPr algn="ctr">
              <a:defRPr sz="1000">
                <a:solidFill>
                  <a:srgbClr val="18302B"/>
                </a:solidFill>
                <a:latin typeface="Aptos"/>
              </a:defRPr>
            </a:pPr>
            <a:r>
              <a:t>validation checks passed</a:t>
            </a:r>
          </a:p>
        </p:txBody>
      </p:sp>
      <p:sp>
        <p:nvSpPr>
          <p:cNvPr id="4" name="Rounded Rectangle 3"/>
          <p:cNvSpPr/>
          <p:nvPr/>
        </p:nvSpPr>
        <p:spPr>
          <a:xfrm>
            <a:off x="3520440" y="1371600"/>
            <a:ext cx="2514600" cy="1143000"/>
          </a:xfrm>
          <a:prstGeom prst="roundRect">
            <a:avLst/>
          </a:prstGeom>
          <a:solidFill>
            <a:srgbClr val="EDF4F1"/>
          </a:solidFill>
          <a:ln>
            <a:solidFill>
              <a:srgbClr val="147D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47D64"/>
                </a:solidFill>
                <a:latin typeface="Aptos Display"/>
              </a:defRPr>
            </a:pPr>
            <a:r>
              <a:t>31</a:t>
            </a:r>
          </a:p>
          <a:p>
            <a:pPr algn="ctr">
              <a:defRPr sz="1000">
                <a:solidFill>
                  <a:srgbClr val="18302B"/>
                </a:solidFill>
                <a:latin typeface="Aptos"/>
              </a:defRPr>
            </a:pPr>
            <a:r>
              <a:t>missing renewable/mix rows</a:t>
            </a:r>
          </a:p>
        </p:txBody>
      </p:sp>
      <p:sp>
        <p:nvSpPr>
          <p:cNvPr id="5" name="Rounded Rectangle 4"/>
          <p:cNvSpPr/>
          <p:nvPr/>
        </p:nvSpPr>
        <p:spPr>
          <a:xfrm>
            <a:off x="6309360" y="1371600"/>
            <a:ext cx="2514600" cy="1143000"/>
          </a:xfrm>
          <a:prstGeom prst="roundRect">
            <a:avLst/>
          </a:prstGeom>
          <a:solidFill>
            <a:srgbClr val="EDF4F1"/>
          </a:solidFill>
          <a:ln>
            <a:solidFill>
              <a:srgbClr val="147D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47D64"/>
                </a:solidFill>
                <a:latin typeface="Aptos Display"/>
              </a:defRPr>
            </a:pPr>
            <a:r>
              <a:t>0</a:t>
            </a:r>
          </a:p>
          <a:p>
            <a:pPr algn="ctr">
              <a:defRPr sz="1000">
                <a:solidFill>
                  <a:srgbClr val="18302B"/>
                </a:solidFill>
                <a:latin typeface="Aptos"/>
              </a:defRPr>
            </a:pPr>
            <a:r>
              <a:t>aggregation mismatches</a:t>
            </a:r>
          </a:p>
        </p:txBody>
      </p:sp>
      <p:sp>
        <p:nvSpPr>
          <p:cNvPr id="6" name="Rounded Rectangle 5"/>
          <p:cNvSpPr/>
          <p:nvPr/>
        </p:nvSpPr>
        <p:spPr>
          <a:xfrm>
            <a:off x="9098280" y="1371600"/>
            <a:ext cx="2514600" cy="1143000"/>
          </a:xfrm>
          <a:prstGeom prst="roundRect">
            <a:avLst/>
          </a:prstGeom>
          <a:solidFill>
            <a:srgbClr val="EDF4F1"/>
          </a:solidFill>
          <a:ln>
            <a:solidFill>
              <a:srgbClr val="147D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47D64"/>
                </a:solidFill>
                <a:latin typeface="Aptos Display"/>
              </a:defRPr>
            </a:pPr>
            <a:r>
              <a:t>20</a:t>
            </a:r>
          </a:p>
          <a:p>
            <a:pPr algn="ctr">
              <a:defRPr sz="1000">
                <a:solidFill>
                  <a:srgbClr val="18302B"/>
                </a:solidFill>
                <a:latin typeface="Aptos"/>
              </a:defRPr>
            </a:pPr>
            <a:r>
              <a:t>automated tests</a:t>
            </a:r>
          </a:p>
        </p:txBody>
      </p:sp>
      <p:sp>
        <p:nvSpPr>
          <p:cNvPr id="7" name="TextBox 6"/>
          <p:cNvSpPr txBox="1"/>
          <p:nvPr/>
        </p:nvSpPr>
        <p:spPr>
          <a:xfrm>
            <a:off x="914400" y="3063240"/>
            <a:ext cx="10241280" cy="2377440"/>
          </a:xfrm>
          <a:prstGeom prst="rect">
            <a:avLst/>
          </a:prstGeom>
          <a:noFill/>
        </p:spPr>
        <p:txBody>
          <a:bodyPr wrap="square">
            <a:spAutoFit/>
          </a:bodyPr>
          <a:lstStyle/>
          <a:p>
            <a:pPr>
              <a:spcAft>
                <a:spcPts val="1200"/>
              </a:spcAft>
              <a:defRPr sz="1900">
                <a:solidFill>
                  <a:srgbClr val="18302B"/>
                </a:solidFill>
                <a:latin typeface="Aptos"/>
              </a:defRPr>
            </a:pPr>
            <a:r>
              <a:t>All four authorities have 8,760 rows and continuous hourly UTC timestamps.</a:t>
            </a:r>
          </a:p>
          <a:p>
            <a:pPr>
              <a:spcAft>
                <a:spcPts val="1200"/>
              </a:spcAft>
              <a:defRPr sz="1900">
                <a:solidFill>
                  <a:srgbClr val="18302B"/>
                </a:solidFill>
                <a:latin typeface="Aptos"/>
              </a:defRPr>
            </a:pPr>
            <a:r>
              <a:t>25 demand and net-generation values are also missing.</a:t>
            </a:r>
          </a:p>
          <a:p>
            <a:pPr>
              <a:spcAft>
                <a:spcPts val="1200"/>
              </a:spcAft>
              <a:defRPr sz="1900">
                <a:solidFill>
                  <a:srgbClr val="18302B"/>
                </a:solidFill>
                <a:latin typeface="Aptos"/>
              </a:defRPr>
            </a:pPr>
            <a:r>
              <a:t>Gaps remain gaps and are disclosed beside each chart.</a:t>
            </a:r>
          </a:p>
        </p:txBody>
      </p:sp>
      <p:sp>
        <p:nvSpPr>
          <p:cNvPr id="8" name="Rectangle 7"/>
          <p:cNvSpPr/>
          <p:nvPr/>
        </p:nvSpPr>
        <p:spPr>
          <a:xfrm>
            <a:off x="594360" y="6547104"/>
            <a:ext cx="10972800" cy="18288"/>
          </a:xfrm>
          <a:prstGeom prst="rect">
            <a:avLst/>
          </a:prstGeom>
          <a:solidFill>
            <a:srgbClr val="147D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83680"/>
            <a:ext cx="10881360" cy="182880"/>
          </a:xfrm>
          <a:prstGeom prst="rect">
            <a:avLst/>
          </a:prstGeom>
          <a:noFill/>
        </p:spPr>
        <p:txBody>
          <a:bodyPr wrap="none">
            <a:spAutoFit/>
          </a:bodyPr>
          <a:lstStyle/>
          <a:p>
            <a:pPr>
              <a:defRPr sz="800">
                <a:solidFill>
                  <a:srgbClr val="18302B"/>
                </a:solidFill>
                <a:latin typeface="Aptos"/>
              </a:defRPr>
            </a:pPr>
            <a:r>
              <a:t>Shazab Ali · Renewable Grid Story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731520"/>
          </a:xfrm>
          <a:prstGeom prst="rect">
            <a:avLst/>
          </a:prstGeom>
          <a:noFill/>
        </p:spPr>
        <p:txBody>
          <a:bodyPr wrap="none">
            <a:spAutoFit/>
          </a:bodyPr>
          <a:lstStyle/>
          <a:p>
            <a:pPr>
              <a:defRPr sz="2800" b="1">
                <a:solidFill>
                  <a:srgbClr val="18302B"/>
                </a:solidFill>
                <a:latin typeface="Aptos Display"/>
              </a:defRPr>
            </a:pPr>
            <a:r>
              <a:t>View 1 · Whole-system context</a:t>
            </a:r>
          </a:p>
        </p:txBody>
      </p:sp>
      <p:sp>
        <p:nvSpPr>
          <p:cNvPr id="3" name="TextBox 2"/>
          <p:cNvSpPr txBox="1"/>
          <p:nvPr/>
        </p:nvSpPr>
        <p:spPr>
          <a:xfrm>
            <a:off x="658368" y="1417320"/>
            <a:ext cx="4251960" cy="4297680"/>
          </a:xfrm>
          <a:prstGeom prst="rect">
            <a:avLst/>
          </a:prstGeom>
          <a:noFill/>
        </p:spPr>
        <p:txBody>
          <a:bodyPr wrap="square">
            <a:spAutoFit/>
          </a:bodyPr>
          <a:lstStyle/>
          <a:p>
            <a:pPr>
              <a:spcAft>
                <a:spcPts val="1200"/>
              </a:spcAft>
              <a:defRPr sz="1900">
                <a:solidFill>
                  <a:srgbClr val="18302B"/>
                </a:solidFill>
                <a:latin typeface="Aptos"/>
              </a:defRPr>
            </a:pPr>
            <a:r>
              <a:t>Daily stacked mix</a:t>
            </a:r>
          </a:p>
          <a:p>
            <a:pPr>
              <a:spcAft>
                <a:spcPts val="1200"/>
              </a:spcAft>
              <a:defRPr sz="1900">
                <a:solidFill>
                  <a:srgbClr val="18302B"/>
                </a:solidFill>
                <a:latin typeface="Aptos"/>
              </a:defRPr>
            </a:pPr>
            <a:r>
              <a:t>CISO June 15: solar leads at 35.1% of positive reported mix</a:t>
            </a:r>
          </a:p>
        </p:txBody>
      </p:sp>
      <p:pic>
        <p:nvPicPr>
          <p:cNvPr id="4" name="Picture 3" descr="view-1-generation-mix.png"/>
          <p:cNvPicPr>
            <a:picLocks noChangeAspect="1"/>
          </p:cNvPicPr>
          <p:nvPr/>
        </p:nvPicPr>
        <p:blipFill>
          <a:blip r:embed="rId2"/>
          <a:stretch>
            <a:fillRect/>
          </a:stretch>
        </p:blipFill>
        <p:spPr>
          <a:xfrm>
            <a:off x="4663440" y="1298448"/>
            <a:ext cx="7086600" cy="3847011"/>
          </a:xfrm>
          <a:prstGeom prst="rect">
            <a:avLst/>
          </a:prstGeom>
        </p:spPr>
      </p:pic>
      <p:sp>
        <p:nvSpPr>
          <p:cNvPr id="5" name="Rectangle 4"/>
          <p:cNvSpPr/>
          <p:nvPr/>
        </p:nvSpPr>
        <p:spPr>
          <a:xfrm>
            <a:off x="594360" y="6547104"/>
            <a:ext cx="10972800" cy="18288"/>
          </a:xfrm>
          <a:prstGeom prst="rect">
            <a:avLst/>
          </a:prstGeom>
          <a:solidFill>
            <a:srgbClr val="147D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6583680"/>
            <a:ext cx="10881360" cy="182880"/>
          </a:xfrm>
          <a:prstGeom prst="rect">
            <a:avLst/>
          </a:prstGeom>
          <a:noFill/>
        </p:spPr>
        <p:txBody>
          <a:bodyPr wrap="none">
            <a:spAutoFit/>
          </a:bodyPr>
          <a:lstStyle/>
          <a:p>
            <a:pPr>
              <a:defRPr sz="800">
                <a:solidFill>
                  <a:srgbClr val="18302B"/>
                </a:solidFill>
                <a:latin typeface="Aptos"/>
              </a:defRPr>
            </a:pPr>
            <a:r>
              <a:t>Shazab Ali · Renewable Grid Story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731520"/>
          </a:xfrm>
          <a:prstGeom prst="rect">
            <a:avLst/>
          </a:prstGeom>
          <a:noFill/>
        </p:spPr>
        <p:txBody>
          <a:bodyPr wrap="none">
            <a:spAutoFit/>
          </a:bodyPr>
          <a:lstStyle/>
          <a:p>
            <a:pPr>
              <a:defRPr sz="2800" b="1">
                <a:solidFill>
                  <a:srgbClr val="18302B"/>
                </a:solidFill>
                <a:latin typeface="Aptos Display"/>
              </a:defRPr>
            </a:pPr>
            <a:r>
              <a:t>View 2 · Hourly rhythm</a:t>
            </a:r>
          </a:p>
        </p:txBody>
      </p:sp>
      <p:sp>
        <p:nvSpPr>
          <p:cNvPr id="3" name="TextBox 2"/>
          <p:cNvSpPr txBox="1"/>
          <p:nvPr/>
        </p:nvSpPr>
        <p:spPr>
          <a:xfrm>
            <a:off x="658368" y="1417320"/>
            <a:ext cx="4251960" cy="4297680"/>
          </a:xfrm>
          <a:prstGeom prst="rect">
            <a:avLst/>
          </a:prstGeom>
          <a:noFill/>
        </p:spPr>
        <p:txBody>
          <a:bodyPr wrap="square">
            <a:spAutoFit/>
          </a:bodyPr>
          <a:lstStyle/>
          <a:p>
            <a:pPr>
              <a:spcAft>
                <a:spcPts val="1200"/>
              </a:spcAft>
              <a:defRPr sz="1900">
                <a:solidFill>
                  <a:srgbClr val="18302B"/>
                </a:solidFill>
                <a:latin typeface="Aptos"/>
              </a:defRPr>
            </a:pPr>
            <a:r>
              <a:t>Previous / Play / Next / Reset</a:t>
            </a:r>
          </a:p>
          <a:p>
            <a:pPr>
              <a:spcAft>
                <a:spcPts val="1200"/>
              </a:spcAft>
              <a:defRPr sz="1900">
                <a:solidFill>
                  <a:srgbClr val="18302B"/>
                </a:solidFill>
                <a:latin typeface="Aptos"/>
              </a:defRPr>
            </a:pPr>
            <a:r>
              <a:t>Dynamic 23-, 24-, or 25-observation boundary</a:t>
            </a:r>
          </a:p>
        </p:txBody>
      </p:sp>
      <p:pic>
        <p:nvPicPr>
          <p:cNvPr id="4" name="Picture 3" descr="view-2-hourly-rhythm.png"/>
          <p:cNvPicPr>
            <a:picLocks noChangeAspect="1"/>
          </p:cNvPicPr>
          <p:nvPr/>
        </p:nvPicPr>
        <p:blipFill>
          <a:blip r:embed="rId2"/>
          <a:stretch>
            <a:fillRect/>
          </a:stretch>
        </p:blipFill>
        <p:spPr>
          <a:xfrm>
            <a:off x="4663440" y="1298448"/>
            <a:ext cx="7086600" cy="3847011"/>
          </a:xfrm>
          <a:prstGeom prst="rect">
            <a:avLst/>
          </a:prstGeom>
        </p:spPr>
      </p:pic>
      <p:sp>
        <p:nvSpPr>
          <p:cNvPr id="5" name="Rectangle 4"/>
          <p:cNvSpPr/>
          <p:nvPr/>
        </p:nvSpPr>
        <p:spPr>
          <a:xfrm>
            <a:off x="594360" y="6547104"/>
            <a:ext cx="10972800" cy="18288"/>
          </a:xfrm>
          <a:prstGeom prst="rect">
            <a:avLst/>
          </a:prstGeom>
          <a:solidFill>
            <a:srgbClr val="147D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6583680"/>
            <a:ext cx="10881360" cy="182880"/>
          </a:xfrm>
          <a:prstGeom prst="rect">
            <a:avLst/>
          </a:prstGeom>
          <a:noFill/>
        </p:spPr>
        <p:txBody>
          <a:bodyPr wrap="none">
            <a:spAutoFit/>
          </a:bodyPr>
          <a:lstStyle/>
          <a:p>
            <a:pPr>
              <a:defRPr sz="800">
                <a:solidFill>
                  <a:srgbClr val="18302B"/>
                </a:solidFill>
                <a:latin typeface="Aptos"/>
              </a:defRPr>
            </a:pPr>
            <a:r>
              <a:t>Shazab Ali · Renewable Grid Story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731520"/>
          </a:xfrm>
          <a:prstGeom prst="rect">
            <a:avLst/>
          </a:prstGeom>
          <a:noFill/>
        </p:spPr>
        <p:txBody>
          <a:bodyPr wrap="none">
            <a:spAutoFit/>
          </a:bodyPr>
          <a:lstStyle/>
          <a:p>
            <a:pPr>
              <a:defRPr sz="2800" b="1">
                <a:solidFill>
                  <a:srgbClr val="18302B"/>
                </a:solidFill>
                <a:latin typeface="Aptos Display"/>
              </a:defRPr>
            </a:pPr>
            <a:r>
              <a:t>View 3 · Annual pulse</a:t>
            </a:r>
          </a:p>
        </p:txBody>
      </p:sp>
      <p:sp>
        <p:nvSpPr>
          <p:cNvPr id="3" name="TextBox 2"/>
          <p:cNvSpPr txBox="1"/>
          <p:nvPr/>
        </p:nvSpPr>
        <p:spPr>
          <a:xfrm>
            <a:off x="658368" y="1417320"/>
            <a:ext cx="4251960" cy="4297680"/>
          </a:xfrm>
          <a:prstGeom prst="rect">
            <a:avLst/>
          </a:prstGeom>
          <a:noFill/>
        </p:spPr>
        <p:txBody>
          <a:bodyPr wrap="square">
            <a:spAutoFit/>
          </a:bodyPr>
          <a:lstStyle/>
          <a:p>
            <a:pPr>
              <a:spcAft>
                <a:spcPts val="1200"/>
              </a:spcAft>
              <a:defRPr sz="1900">
                <a:solidFill>
                  <a:srgbClr val="18302B"/>
                </a:solidFill>
                <a:latin typeface="Aptos"/>
              </a:defRPr>
            </a:pPr>
            <a:r>
              <a:t>Daily means expose seasonal structure</a:t>
            </a:r>
          </a:p>
          <a:p>
            <a:pPr>
              <a:spcAft>
                <a:spcPts val="1200"/>
              </a:spcAft>
              <a:defRPr sz="1900">
                <a:solidFill>
                  <a:srgbClr val="18302B"/>
                </a:solidFill>
                <a:latin typeface="Aptos"/>
              </a:defRPr>
            </a:pPr>
            <a:r>
              <a:t>Normalized = percent of each source’s own peak</a:t>
            </a:r>
          </a:p>
        </p:txBody>
      </p:sp>
      <p:pic>
        <p:nvPicPr>
          <p:cNvPr id="4" name="Picture 3" descr="view-3-source-comparison.png"/>
          <p:cNvPicPr>
            <a:picLocks noChangeAspect="1"/>
          </p:cNvPicPr>
          <p:nvPr/>
        </p:nvPicPr>
        <p:blipFill>
          <a:blip r:embed="rId2"/>
          <a:stretch>
            <a:fillRect/>
          </a:stretch>
        </p:blipFill>
        <p:spPr>
          <a:xfrm>
            <a:off x="4663440" y="1298448"/>
            <a:ext cx="7086600" cy="3847011"/>
          </a:xfrm>
          <a:prstGeom prst="rect">
            <a:avLst/>
          </a:prstGeom>
        </p:spPr>
      </p:pic>
      <p:sp>
        <p:nvSpPr>
          <p:cNvPr id="5" name="Rectangle 4"/>
          <p:cNvSpPr/>
          <p:nvPr/>
        </p:nvSpPr>
        <p:spPr>
          <a:xfrm>
            <a:off x="594360" y="6547104"/>
            <a:ext cx="10972800" cy="18288"/>
          </a:xfrm>
          <a:prstGeom prst="rect">
            <a:avLst/>
          </a:prstGeom>
          <a:solidFill>
            <a:srgbClr val="147D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6583680"/>
            <a:ext cx="10881360" cy="182880"/>
          </a:xfrm>
          <a:prstGeom prst="rect">
            <a:avLst/>
          </a:prstGeom>
          <a:noFill/>
        </p:spPr>
        <p:txBody>
          <a:bodyPr wrap="none">
            <a:spAutoFit/>
          </a:bodyPr>
          <a:lstStyle/>
          <a:p>
            <a:pPr>
              <a:defRPr sz="800">
                <a:solidFill>
                  <a:srgbClr val="18302B"/>
                </a:solidFill>
                <a:latin typeface="Aptos"/>
              </a:defRPr>
            </a:pPr>
            <a:r>
              <a:t>Shazab Ali · Renewable Grid Story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731520"/>
          </a:xfrm>
          <a:prstGeom prst="rect">
            <a:avLst/>
          </a:prstGeom>
          <a:noFill/>
        </p:spPr>
        <p:txBody>
          <a:bodyPr wrap="none">
            <a:spAutoFit/>
          </a:bodyPr>
          <a:lstStyle/>
          <a:p>
            <a:pPr>
              <a:defRPr sz="2800" b="1">
                <a:solidFill>
                  <a:srgbClr val="18302B"/>
                </a:solidFill>
                <a:latin typeface="Aptos Display"/>
              </a:defRPr>
            </a:pPr>
            <a:r>
              <a:t>View 4 · Regional context</a:t>
            </a:r>
          </a:p>
        </p:txBody>
      </p:sp>
      <p:sp>
        <p:nvSpPr>
          <p:cNvPr id="3" name="TextBox 2"/>
          <p:cNvSpPr txBox="1"/>
          <p:nvPr/>
        </p:nvSpPr>
        <p:spPr>
          <a:xfrm>
            <a:off x="658368" y="1417320"/>
            <a:ext cx="4251960" cy="4297680"/>
          </a:xfrm>
          <a:prstGeom prst="rect">
            <a:avLst/>
          </a:prstGeom>
          <a:noFill/>
        </p:spPr>
        <p:txBody>
          <a:bodyPr wrap="square">
            <a:spAutoFit/>
          </a:bodyPr>
          <a:lstStyle/>
          <a:p>
            <a:pPr>
              <a:spcAft>
                <a:spcPts val="1200"/>
              </a:spcAft>
              <a:defRPr sz="1900">
                <a:solidFill>
                  <a:srgbClr val="18302B"/>
                </a:solidFill>
                <a:latin typeface="Aptos"/>
              </a:defRPr>
            </a:pPr>
            <a:r>
              <a:t>Matched source and dates</a:t>
            </a:r>
          </a:p>
          <a:p>
            <a:pPr>
              <a:spcAft>
                <a:spcPts val="1200"/>
              </a:spcAft>
              <a:defRPr sz="1900">
                <a:solidFill>
                  <a:srgbClr val="18302B"/>
                </a:solidFill>
                <a:latin typeface="Aptos"/>
              </a:defRPr>
            </a:pPr>
            <a:r>
              <a:t>ERCO mean solar ≈ 1.36× CISO in 2025</a:t>
            </a:r>
          </a:p>
        </p:txBody>
      </p:sp>
      <p:pic>
        <p:nvPicPr>
          <p:cNvPr id="4" name="Picture 3" descr="view-4-regional-comparison.png"/>
          <p:cNvPicPr>
            <a:picLocks noChangeAspect="1"/>
          </p:cNvPicPr>
          <p:nvPr/>
        </p:nvPicPr>
        <p:blipFill>
          <a:blip r:embed="rId2"/>
          <a:stretch>
            <a:fillRect/>
          </a:stretch>
        </p:blipFill>
        <p:spPr>
          <a:xfrm>
            <a:off x="4663440" y="1298448"/>
            <a:ext cx="7086600" cy="3847011"/>
          </a:xfrm>
          <a:prstGeom prst="rect">
            <a:avLst/>
          </a:prstGeom>
        </p:spPr>
      </p:pic>
      <p:sp>
        <p:nvSpPr>
          <p:cNvPr id="5" name="Rectangle 4"/>
          <p:cNvSpPr/>
          <p:nvPr/>
        </p:nvSpPr>
        <p:spPr>
          <a:xfrm>
            <a:off x="594360" y="6547104"/>
            <a:ext cx="10972800" cy="18288"/>
          </a:xfrm>
          <a:prstGeom prst="rect">
            <a:avLst/>
          </a:prstGeom>
          <a:solidFill>
            <a:srgbClr val="147D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6583680"/>
            <a:ext cx="10881360" cy="182880"/>
          </a:xfrm>
          <a:prstGeom prst="rect">
            <a:avLst/>
          </a:prstGeom>
          <a:noFill/>
        </p:spPr>
        <p:txBody>
          <a:bodyPr wrap="none">
            <a:spAutoFit/>
          </a:bodyPr>
          <a:lstStyle/>
          <a:p>
            <a:pPr>
              <a:defRPr sz="800">
                <a:solidFill>
                  <a:srgbClr val="18302B"/>
                </a:solidFill>
                <a:latin typeface="Aptos"/>
              </a:defRPr>
            </a:pPr>
            <a:r>
              <a:t>Shazab Ali · Renewable Grid Story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731520"/>
          </a:xfrm>
          <a:prstGeom prst="rect">
            <a:avLst/>
          </a:prstGeom>
          <a:noFill/>
        </p:spPr>
        <p:txBody>
          <a:bodyPr wrap="none">
            <a:spAutoFit/>
          </a:bodyPr>
          <a:lstStyle/>
          <a:p>
            <a:pPr>
              <a:defRPr sz="2800" b="1">
                <a:solidFill>
                  <a:srgbClr val="18302B"/>
                </a:solidFill>
                <a:latin typeface="Aptos Display"/>
              </a:defRPr>
            </a:pPr>
            <a:r>
              <a:t>View 5 · Quantified variability</a:t>
            </a:r>
          </a:p>
        </p:txBody>
      </p:sp>
      <p:sp>
        <p:nvSpPr>
          <p:cNvPr id="3" name="TextBox 2"/>
          <p:cNvSpPr txBox="1"/>
          <p:nvPr/>
        </p:nvSpPr>
        <p:spPr>
          <a:xfrm>
            <a:off x="658368" y="1417320"/>
            <a:ext cx="4251960" cy="4297680"/>
          </a:xfrm>
          <a:prstGeom prst="rect">
            <a:avLst/>
          </a:prstGeom>
          <a:noFill/>
        </p:spPr>
        <p:txBody>
          <a:bodyPr wrap="square">
            <a:spAutoFit/>
          </a:bodyPr>
          <a:lstStyle/>
          <a:p>
            <a:pPr>
              <a:spcAft>
                <a:spcPts val="1200"/>
              </a:spcAft>
              <a:defRPr sz="1900">
                <a:solidFill>
                  <a:srgbClr val="18302B"/>
                </a:solidFill>
                <a:latin typeface="Aptos"/>
              </a:defRPr>
            </a:pPr>
            <a:r>
              <a:t>CISO solar mean 5,667.9 MW</a:t>
            </a:r>
          </a:p>
          <a:p>
            <a:pPr>
              <a:spcAft>
                <a:spcPts val="1200"/>
              </a:spcAft>
              <a:defRPr sz="1900">
                <a:solidFill>
                  <a:srgbClr val="18302B"/>
                </a:solidFill>
                <a:latin typeface="Aptos"/>
              </a:defRPr>
            </a:pPr>
            <a:r>
              <a:t>CV 1.203; zero mean returns undefined</a:t>
            </a:r>
          </a:p>
        </p:txBody>
      </p:sp>
      <p:pic>
        <p:nvPicPr>
          <p:cNvPr id="4" name="Picture 3" descr="view-5-variability.png"/>
          <p:cNvPicPr>
            <a:picLocks noChangeAspect="1"/>
          </p:cNvPicPr>
          <p:nvPr/>
        </p:nvPicPr>
        <p:blipFill>
          <a:blip r:embed="rId2"/>
          <a:stretch>
            <a:fillRect/>
          </a:stretch>
        </p:blipFill>
        <p:spPr>
          <a:xfrm>
            <a:off x="4663440" y="1298448"/>
            <a:ext cx="7086600" cy="3847011"/>
          </a:xfrm>
          <a:prstGeom prst="rect">
            <a:avLst/>
          </a:prstGeom>
        </p:spPr>
      </p:pic>
      <p:sp>
        <p:nvSpPr>
          <p:cNvPr id="5" name="Rectangle 4"/>
          <p:cNvSpPr/>
          <p:nvPr/>
        </p:nvSpPr>
        <p:spPr>
          <a:xfrm>
            <a:off x="594360" y="6547104"/>
            <a:ext cx="10972800" cy="18288"/>
          </a:xfrm>
          <a:prstGeom prst="rect">
            <a:avLst/>
          </a:prstGeom>
          <a:solidFill>
            <a:srgbClr val="147D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6583680"/>
            <a:ext cx="10881360" cy="182880"/>
          </a:xfrm>
          <a:prstGeom prst="rect">
            <a:avLst/>
          </a:prstGeom>
          <a:noFill/>
        </p:spPr>
        <p:txBody>
          <a:bodyPr wrap="none">
            <a:spAutoFit/>
          </a:bodyPr>
          <a:lstStyle/>
          <a:p>
            <a:pPr>
              <a:defRPr sz="800">
                <a:solidFill>
                  <a:srgbClr val="18302B"/>
                </a:solidFill>
                <a:latin typeface="Aptos"/>
              </a:defRPr>
            </a:pPr>
            <a:r>
              <a:t>Shazab Ali · Renewable Grid Story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731520"/>
          </a:xfrm>
          <a:prstGeom prst="rect">
            <a:avLst/>
          </a:prstGeom>
          <a:noFill/>
        </p:spPr>
        <p:txBody>
          <a:bodyPr wrap="none">
            <a:spAutoFit/>
          </a:bodyPr>
          <a:lstStyle/>
          <a:p>
            <a:pPr>
              <a:defRPr sz="2800" b="1">
                <a:solidFill>
                  <a:srgbClr val="18302B"/>
                </a:solidFill>
                <a:latin typeface="Aptos Display"/>
              </a:defRPr>
            </a:pPr>
            <a:r>
              <a:t>View 6 · Portfolio test</a:t>
            </a:r>
          </a:p>
        </p:txBody>
      </p:sp>
      <p:sp>
        <p:nvSpPr>
          <p:cNvPr id="3" name="TextBox 2"/>
          <p:cNvSpPr txBox="1"/>
          <p:nvPr/>
        </p:nvSpPr>
        <p:spPr>
          <a:xfrm>
            <a:off x="658368" y="1417320"/>
            <a:ext cx="4251960" cy="4297680"/>
          </a:xfrm>
          <a:prstGeom prst="rect">
            <a:avLst/>
          </a:prstGeom>
          <a:noFill/>
        </p:spPr>
        <p:txBody>
          <a:bodyPr wrap="square">
            <a:spAutoFit/>
          </a:bodyPr>
          <a:lstStyle/>
          <a:p>
            <a:pPr>
              <a:spcAft>
                <a:spcPts val="1200"/>
              </a:spcAft>
              <a:defRPr sz="1900">
                <a:solidFill>
                  <a:srgbClr val="18302B"/>
                </a:solidFill>
                <a:latin typeface="Aptos"/>
              </a:defRPr>
            </a:pPr>
            <a:r>
              <a:t>CISO combined CV 0.590</a:t>
            </a:r>
          </a:p>
          <a:p>
            <a:pPr>
              <a:spcAft>
                <a:spcPts val="1200"/>
              </a:spcAft>
              <a:defRPr sz="1900">
                <a:solidFill>
                  <a:srgbClr val="18302B"/>
                </a:solidFill>
                <a:latin typeface="Aptos"/>
              </a:defRPr>
            </a:pPr>
            <a:r>
              <a:t>Lower than solar/wind—not lower than hydro (0.463)</a:t>
            </a:r>
          </a:p>
        </p:txBody>
      </p:sp>
      <p:pic>
        <p:nvPicPr>
          <p:cNvPr id="4" name="Picture 3" descr="view-6-portfolio.png"/>
          <p:cNvPicPr>
            <a:picLocks noChangeAspect="1"/>
          </p:cNvPicPr>
          <p:nvPr/>
        </p:nvPicPr>
        <p:blipFill>
          <a:blip r:embed="rId2"/>
          <a:stretch>
            <a:fillRect/>
          </a:stretch>
        </p:blipFill>
        <p:spPr>
          <a:xfrm>
            <a:off x="4663440" y="1298448"/>
            <a:ext cx="7086600" cy="3847011"/>
          </a:xfrm>
          <a:prstGeom prst="rect">
            <a:avLst/>
          </a:prstGeom>
        </p:spPr>
      </p:pic>
      <p:sp>
        <p:nvSpPr>
          <p:cNvPr id="5" name="Rectangle 4"/>
          <p:cNvSpPr/>
          <p:nvPr/>
        </p:nvSpPr>
        <p:spPr>
          <a:xfrm>
            <a:off x="594360" y="6547104"/>
            <a:ext cx="10972800" cy="18288"/>
          </a:xfrm>
          <a:prstGeom prst="rect">
            <a:avLst/>
          </a:prstGeom>
          <a:solidFill>
            <a:srgbClr val="147D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6583680"/>
            <a:ext cx="10881360" cy="182880"/>
          </a:xfrm>
          <a:prstGeom prst="rect">
            <a:avLst/>
          </a:prstGeom>
          <a:noFill/>
        </p:spPr>
        <p:txBody>
          <a:bodyPr wrap="none">
            <a:spAutoFit/>
          </a:bodyPr>
          <a:lstStyle/>
          <a:p>
            <a:pPr>
              <a:defRPr sz="800">
                <a:solidFill>
                  <a:srgbClr val="18302B"/>
                </a:solidFill>
                <a:latin typeface="Aptos"/>
              </a:defRPr>
            </a:pPr>
            <a:r>
              <a:t>Shazab Ali · Renewable Grid Story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731520"/>
          </a:xfrm>
          <a:prstGeom prst="rect">
            <a:avLst/>
          </a:prstGeom>
          <a:noFill/>
        </p:spPr>
        <p:txBody>
          <a:bodyPr wrap="none">
            <a:spAutoFit/>
          </a:bodyPr>
          <a:lstStyle/>
          <a:p>
            <a:pPr>
              <a:defRPr sz="2800" b="1">
                <a:solidFill>
                  <a:srgbClr val="18302B"/>
                </a:solidFill>
                <a:latin typeface="Aptos Display"/>
              </a:defRPr>
            </a:pPr>
            <a:r>
              <a:t>2025: scale and share tell different stories</a:t>
            </a:r>
          </a:p>
        </p:txBody>
      </p:sp>
      <p:sp>
        <p:nvSpPr>
          <p:cNvPr id="3" name="Rounded Rectangle 2"/>
          <p:cNvSpPr/>
          <p:nvPr/>
        </p:nvSpPr>
        <p:spPr>
          <a:xfrm>
            <a:off x="640080" y="1508760"/>
            <a:ext cx="2468880" cy="2971800"/>
          </a:xfrm>
          <a:prstGeom prst="roundRect">
            <a:avLst/>
          </a:prstGeom>
          <a:solidFill>
            <a:srgbClr val="EDF4F1"/>
          </a:solidFill>
          <a:ln>
            <a:solidFill>
              <a:srgbClr val="147D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47D64"/>
                </a:solidFill>
                <a:latin typeface="Aptos"/>
              </a:defRPr>
            </a:pPr>
            <a:r>
              <a:t>CISO</a:t>
            </a:r>
          </a:p>
          <a:p>
            <a:pPr algn="ctr">
              <a:defRPr sz="2300" b="1">
                <a:solidFill>
                  <a:srgbClr val="147D64"/>
                </a:solidFill>
                <a:latin typeface="Aptos"/>
              </a:defRPr>
            </a:pPr>
            <a:r>
              <a:t>90.8M MWh</a:t>
            </a:r>
          </a:p>
          <a:p>
            <a:pPr algn="ctr">
              <a:defRPr sz="1000" b="0">
                <a:solidFill>
                  <a:srgbClr val="18302B"/>
                </a:solidFill>
                <a:latin typeface="Aptos"/>
              </a:defRPr>
            </a:pPr>
            <a:r>
              <a:t>renewable energy</a:t>
            </a:r>
          </a:p>
          <a:p>
            <a:pPr algn="ctr">
              <a:defRPr sz="2300" b="1">
                <a:solidFill>
                  <a:srgbClr val="147D64"/>
                </a:solidFill>
                <a:latin typeface="Aptos"/>
              </a:defRPr>
            </a:pPr>
            <a:r>
              <a:t>48.744%</a:t>
            </a:r>
          </a:p>
          <a:p>
            <a:pPr algn="ctr">
              <a:defRPr sz="1000" b="0">
                <a:solidFill>
                  <a:srgbClr val="18302B"/>
                </a:solidFill>
                <a:latin typeface="Aptos"/>
              </a:defRPr>
            </a:pPr>
            <a:r>
              <a:t>share of net generation</a:t>
            </a:r>
          </a:p>
        </p:txBody>
      </p:sp>
      <p:sp>
        <p:nvSpPr>
          <p:cNvPr id="4" name="Rounded Rectangle 3"/>
          <p:cNvSpPr/>
          <p:nvPr/>
        </p:nvSpPr>
        <p:spPr>
          <a:xfrm>
            <a:off x="3520439" y="1508760"/>
            <a:ext cx="2468880" cy="2971800"/>
          </a:xfrm>
          <a:prstGeom prst="roundRect">
            <a:avLst/>
          </a:prstGeom>
          <a:solidFill>
            <a:srgbClr val="EDF4F1"/>
          </a:solidFill>
          <a:ln>
            <a:solidFill>
              <a:srgbClr val="147D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47D64"/>
                </a:solidFill>
                <a:latin typeface="Aptos"/>
              </a:defRPr>
            </a:pPr>
            <a:r>
              <a:t>ERCO</a:t>
            </a:r>
          </a:p>
          <a:p>
            <a:pPr algn="ctr">
              <a:defRPr sz="2300" b="1">
                <a:solidFill>
                  <a:srgbClr val="147D64"/>
                </a:solidFill>
                <a:latin typeface="Aptos"/>
              </a:defRPr>
            </a:pPr>
            <a:r>
              <a:t>182.8M MWh</a:t>
            </a:r>
          </a:p>
          <a:p>
            <a:pPr algn="ctr">
              <a:defRPr sz="1000" b="0">
                <a:solidFill>
                  <a:srgbClr val="18302B"/>
                </a:solidFill>
                <a:latin typeface="Aptos"/>
              </a:defRPr>
            </a:pPr>
            <a:r>
              <a:t>renewable energy</a:t>
            </a:r>
          </a:p>
          <a:p>
            <a:pPr algn="ctr">
              <a:defRPr sz="2300" b="1">
                <a:solidFill>
                  <a:srgbClr val="147D64"/>
                </a:solidFill>
                <a:latin typeface="Aptos"/>
              </a:defRPr>
            </a:pPr>
            <a:r>
              <a:t>37.583%</a:t>
            </a:r>
          </a:p>
          <a:p>
            <a:pPr algn="ctr">
              <a:defRPr sz="1000" b="0">
                <a:solidFill>
                  <a:srgbClr val="18302B"/>
                </a:solidFill>
                <a:latin typeface="Aptos"/>
              </a:defRPr>
            </a:pPr>
            <a:r>
              <a:t>share of net generation</a:t>
            </a:r>
          </a:p>
        </p:txBody>
      </p:sp>
      <p:sp>
        <p:nvSpPr>
          <p:cNvPr id="5" name="Rounded Rectangle 4"/>
          <p:cNvSpPr/>
          <p:nvPr/>
        </p:nvSpPr>
        <p:spPr>
          <a:xfrm>
            <a:off x="6400800" y="1508760"/>
            <a:ext cx="2468880" cy="2971800"/>
          </a:xfrm>
          <a:prstGeom prst="roundRect">
            <a:avLst/>
          </a:prstGeom>
          <a:solidFill>
            <a:srgbClr val="EDF4F1"/>
          </a:solidFill>
          <a:ln>
            <a:solidFill>
              <a:srgbClr val="147D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47D64"/>
                </a:solidFill>
                <a:latin typeface="Aptos"/>
              </a:defRPr>
            </a:pPr>
            <a:r>
              <a:t>NYIS</a:t>
            </a:r>
          </a:p>
          <a:p>
            <a:pPr algn="ctr">
              <a:defRPr sz="2300" b="1">
                <a:solidFill>
                  <a:srgbClr val="147D64"/>
                </a:solidFill>
                <a:latin typeface="Aptos"/>
              </a:defRPr>
            </a:pPr>
            <a:r>
              <a:t>31.1M MWh</a:t>
            </a:r>
          </a:p>
          <a:p>
            <a:pPr algn="ctr">
              <a:defRPr sz="1000" b="0">
                <a:solidFill>
                  <a:srgbClr val="18302B"/>
                </a:solidFill>
                <a:latin typeface="Aptos"/>
              </a:defRPr>
            </a:pPr>
            <a:r>
              <a:t>renewable energy</a:t>
            </a:r>
          </a:p>
          <a:p>
            <a:pPr algn="ctr">
              <a:defRPr sz="2300" b="1">
                <a:solidFill>
                  <a:srgbClr val="147D64"/>
                </a:solidFill>
                <a:latin typeface="Aptos"/>
              </a:defRPr>
            </a:pPr>
            <a:r>
              <a:t>23.500%</a:t>
            </a:r>
          </a:p>
          <a:p>
            <a:pPr algn="ctr">
              <a:defRPr sz="1000" b="0">
                <a:solidFill>
                  <a:srgbClr val="18302B"/>
                </a:solidFill>
                <a:latin typeface="Aptos"/>
              </a:defRPr>
            </a:pPr>
            <a:r>
              <a:t>share of net generation</a:t>
            </a:r>
          </a:p>
        </p:txBody>
      </p:sp>
      <p:sp>
        <p:nvSpPr>
          <p:cNvPr id="6" name="Rounded Rectangle 5"/>
          <p:cNvSpPr/>
          <p:nvPr/>
        </p:nvSpPr>
        <p:spPr>
          <a:xfrm>
            <a:off x="9281159" y="1508760"/>
            <a:ext cx="2468880" cy="2971800"/>
          </a:xfrm>
          <a:prstGeom prst="roundRect">
            <a:avLst/>
          </a:prstGeom>
          <a:solidFill>
            <a:srgbClr val="EDF4F1"/>
          </a:solidFill>
          <a:ln>
            <a:solidFill>
              <a:srgbClr val="147D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47D64"/>
                </a:solidFill>
                <a:latin typeface="Aptos"/>
              </a:defRPr>
            </a:pPr>
            <a:r>
              <a:t>PJM</a:t>
            </a:r>
          </a:p>
          <a:p>
            <a:pPr algn="ctr">
              <a:defRPr sz="2300" b="1">
                <a:solidFill>
                  <a:srgbClr val="147D64"/>
                </a:solidFill>
                <a:latin typeface="Aptos"/>
              </a:defRPr>
            </a:pPr>
            <a:r>
              <a:t>72.3M MWh</a:t>
            </a:r>
          </a:p>
          <a:p>
            <a:pPr algn="ctr">
              <a:defRPr sz="1000" b="0">
                <a:solidFill>
                  <a:srgbClr val="18302B"/>
                </a:solidFill>
                <a:latin typeface="Aptos"/>
              </a:defRPr>
            </a:pPr>
            <a:r>
              <a:t>renewable energy</a:t>
            </a:r>
          </a:p>
          <a:p>
            <a:pPr algn="ctr">
              <a:defRPr sz="2300" b="1">
                <a:solidFill>
                  <a:srgbClr val="147D64"/>
                </a:solidFill>
                <a:latin typeface="Aptos"/>
              </a:defRPr>
            </a:pPr>
            <a:r>
              <a:t>8.255%</a:t>
            </a:r>
          </a:p>
          <a:p>
            <a:pPr algn="ctr">
              <a:defRPr sz="1000" b="0">
                <a:solidFill>
                  <a:srgbClr val="18302B"/>
                </a:solidFill>
                <a:latin typeface="Aptos"/>
              </a:defRPr>
            </a:pPr>
            <a:r>
              <a:t>share of net generation</a:t>
            </a:r>
          </a:p>
        </p:txBody>
      </p:sp>
      <p:sp>
        <p:nvSpPr>
          <p:cNvPr id="7" name="TextBox 6"/>
          <p:cNvSpPr txBox="1"/>
          <p:nvPr/>
        </p:nvSpPr>
        <p:spPr>
          <a:xfrm>
            <a:off x="1051560" y="4892040"/>
            <a:ext cx="10058400" cy="640080"/>
          </a:xfrm>
          <a:prstGeom prst="rect">
            <a:avLst/>
          </a:prstGeom>
          <a:noFill/>
        </p:spPr>
        <p:txBody>
          <a:bodyPr wrap="square">
            <a:spAutoFit/>
          </a:bodyPr>
          <a:lstStyle/>
          <a:p>
            <a:pPr>
              <a:spcAft>
                <a:spcPts val="1200"/>
              </a:spcAft>
              <a:defRPr sz="1900">
                <a:solidFill>
                  <a:srgbClr val="18302B"/>
                </a:solidFill>
                <a:latin typeface="Aptos"/>
              </a:defRPr>
            </a:pPr>
            <a:r>
              <a:t>ERCO leads absolute renewable output; CISO leads renewable share.</a:t>
            </a:r>
          </a:p>
        </p:txBody>
      </p:sp>
      <p:sp>
        <p:nvSpPr>
          <p:cNvPr id="8" name="Rectangle 7"/>
          <p:cNvSpPr/>
          <p:nvPr/>
        </p:nvSpPr>
        <p:spPr>
          <a:xfrm>
            <a:off x="594360" y="6547104"/>
            <a:ext cx="10972800" cy="18288"/>
          </a:xfrm>
          <a:prstGeom prst="rect">
            <a:avLst/>
          </a:prstGeom>
          <a:solidFill>
            <a:srgbClr val="147D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83680"/>
            <a:ext cx="10881360" cy="182880"/>
          </a:xfrm>
          <a:prstGeom prst="rect">
            <a:avLst/>
          </a:prstGeom>
          <a:noFill/>
        </p:spPr>
        <p:txBody>
          <a:bodyPr wrap="none">
            <a:spAutoFit/>
          </a:bodyPr>
          <a:lstStyle/>
          <a:p>
            <a:pPr>
              <a:defRPr sz="800">
                <a:solidFill>
                  <a:srgbClr val="18302B"/>
                </a:solidFill>
                <a:latin typeface="Aptos"/>
              </a:defRPr>
            </a:pPr>
            <a:r>
              <a:t>Shazab Ali · Renewable Grid Story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731520"/>
          </a:xfrm>
          <a:prstGeom prst="rect">
            <a:avLst/>
          </a:prstGeom>
          <a:noFill/>
        </p:spPr>
        <p:txBody>
          <a:bodyPr wrap="none">
            <a:spAutoFit/>
          </a:bodyPr>
          <a:lstStyle/>
          <a:p>
            <a:pPr>
              <a:defRPr sz="2800" b="1">
                <a:solidFill>
                  <a:srgbClr val="18302B"/>
                </a:solidFill>
                <a:latin typeface="Aptos Display"/>
              </a:defRPr>
            </a:pPr>
            <a:r>
              <a:t>Evaluation, limitations, and next step</a:t>
            </a:r>
          </a:p>
        </p:txBody>
      </p:sp>
      <p:sp>
        <p:nvSpPr>
          <p:cNvPr id="3" name="TextBox 2"/>
          <p:cNvSpPr txBox="1"/>
          <p:nvPr/>
        </p:nvSpPr>
        <p:spPr>
          <a:xfrm>
            <a:off x="731520" y="1417320"/>
            <a:ext cx="10515600" cy="4663440"/>
          </a:xfrm>
          <a:prstGeom prst="rect">
            <a:avLst/>
          </a:prstGeom>
          <a:noFill/>
        </p:spPr>
        <p:txBody>
          <a:bodyPr wrap="square">
            <a:spAutoFit/>
          </a:bodyPr>
          <a:lstStyle/>
          <a:p>
            <a:pPr>
              <a:spcAft>
                <a:spcPts val="1200"/>
              </a:spcAft>
              <a:defRPr sz="1900">
                <a:solidFill>
                  <a:srgbClr val="18302B"/>
                </a:solidFill>
                <a:latin typeface="Aptos"/>
              </a:defRPr>
            </a:pPr>
            <a:r>
              <a:t>Completed: 20 tests; internal desktop/mobile checks; one visual-feedback revision.</a:t>
            </a:r>
          </a:p>
          <a:p>
            <a:pPr>
              <a:spcAft>
                <a:spcPts val="1200"/>
              </a:spcAft>
              <a:defRPr sz="1900">
                <a:solidFill>
                  <a:srgbClr val="18302B"/>
                </a:solidFill>
                <a:latin typeface="Aptos"/>
              </a:defRPr>
            </a:pPr>
            <a:r>
              <a:t>Pending: broader target-audience comprehension testing.</a:t>
            </a:r>
          </a:p>
          <a:p>
            <a:pPr>
              <a:spcAft>
                <a:spcPts val="1200"/>
              </a:spcAft>
              <a:defRPr sz="1900">
                <a:solidFill>
                  <a:srgbClr val="18302B"/>
                </a:solidFill>
                <a:latin typeface="Aptos"/>
              </a:defRPr>
            </a:pPr>
            <a:r>
              <a:t>Limits: one year, four authorities, reporting gaps, schematic map, descriptive CV.</a:t>
            </a:r>
          </a:p>
          <a:p>
            <a:pPr>
              <a:spcAft>
                <a:spcPts val="1200"/>
              </a:spcAft>
              <a:defRPr sz="1900">
                <a:solidFill>
                  <a:srgbClr val="18302B"/>
                </a:solidFill>
                <a:latin typeface="Aptos"/>
              </a:defRPr>
            </a:pPr>
            <a:r>
              <a:t>Verified Render deployment; local app and screenshots remain presentation backups.</a:t>
            </a:r>
          </a:p>
        </p:txBody>
      </p:sp>
      <p:sp>
        <p:nvSpPr>
          <p:cNvPr id="4" name="Rectangle 3"/>
          <p:cNvSpPr/>
          <p:nvPr/>
        </p:nvSpPr>
        <p:spPr>
          <a:xfrm>
            <a:off x="594360" y="6547104"/>
            <a:ext cx="10972800" cy="18288"/>
          </a:xfrm>
          <a:prstGeom prst="rect">
            <a:avLst/>
          </a:prstGeom>
          <a:solidFill>
            <a:srgbClr val="147D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83680"/>
            <a:ext cx="10881360" cy="182880"/>
          </a:xfrm>
          <a:prstGeom prst="rect">
            <a:avLst/>
          </a:prstGeom>
          <a:noFill/>
        </p:spPr>
        <p:txBody>
          <a:bodyPr wrap="none">
            <a:spAutoFit/>
          </a:bodyPr>
          <a:lstStyle/>
          <a:p>
            <a:pPr>
              <a:defRPr sz="800">
                <a:solidFill>
                  <a:srgbClr val="18302B"/>
                </a:solidFill>
                <a:latin typeface="Aptos"/>
              </a:defRPr>
            </a:pPr>
            <a:r>
              <a:t>Shazab Ali · Renewable Grid Story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8302B"/>
        </a:solidFill>
        <a:effectLst/>
      </p:bgPr>
    </p:bg>
    <p:spTree>
      <p:nvGrpSpPr>
        <p:cNvPr id="1" name=""/>
        <p:cNvGrpSpPr/>
        <p:nvPr/>
      </p:nvGrpSpPr>
      <p:grpSpPr/>
      <p:sp>
        <p:nvSpPr>
          <p:cNvPr id="2" name="TextBox 1"/>
          <p:cNvSpPr txBox="1"/>
          <p:nvPr/>
        </p:nvSpPr>
        <p:spPr>
          <a:xfrm>
            <a:off x="594360" y="347472"/>
            <a:ext cx="10972800" cy="731520"/>
          </a:xfrm>
          <a:prstGeom prst="rect">
            <a:avLst/>
          </a:prstGeom>
          <a:noFill/>
        </p:spPr>
        <p:txBody>
          <a:bodyPr wrap="none">
            <a:spAutoFit/>
          </a:bodyPr>
          <a:lstStyle/>
          <a:p>
            <a:pPr>
              <a:defRPr sz="2800" b="1">
                <a:solidFill>
                  <a:srgbClr val="FFFFFF"/>
                </a:solidFill>
                <a:latin typeface="Aptos Display"/>
              </a:defRPr>
            </a:pPr>
            <a:r>
              <a:t>Class question</a:t>
            </a:r>
          </a:p>
        </p:txBody>
      </p:sp>
      <p:sp>
        <p:nvSpPr>
          <p:cNvPr id="3" name="TextBox 2"/>
          <p:cNvSpPr txBox="1"/>
          <p:nvPr/>
        </p:nvSpPr>
        <p:spPr>
          <a:xfrm>
            <a:off x="621792" y="960120"/>
            <a:ext cx="10789920" cy="411480"/>
          </a:xfrm>
          <a:prstGeom prst="rect">
            <a:avLst/>
          </a:prstGeom>
          <a:noFill/>
        </p:spPr>
        <p:txBody>
          <a:bodyPr wrap="none">
            <a:spAutoFit/>
          </a:bodyPr>
          <a:lstStyle/>
          <a:p>
            <a:pPr>
              <a:defRPr sz="1200">
                <a:solidFill>
                  <a:srgbClr val="EDF4F1"/>
                </a:solidFill>
                <a:latin typeface="Aptos"/>
              </a:defRPr>
            </a:pPr>
            <a:r>
              <a:t>Before the final demo result…</a:t>
            </a:r>
          </a:p>
        </p:txBody>
      </p:sp>
      <p:sp>
        <p:nvSpPr>
          <p:cNvPr id="4" name="TextBox 3"/>
          <p:cNvSpPr txBox="1"/>
          <p:nvPr/>
        </p:nvSpPr>
        <p:spPr>
          <a:xfrm>
            <a:off x="914400" y="1874519"/>
            <a:ext cx="10332720" cy="2103120"/>
          </a:xfrm>
          <a:prstGeom prst="rect">
            <a:avLst/>
          </a:prstGeom>
          <a:noFill/>
        </p:spPr>
        <p:txBody>
          <a:bodyPr wrap="none">
            <a:spAutoFit/>
          </a:bodyPr>
          <a:lstStyle/>
          <a:p>
            <a:pPr algn="ctr">
              <a:defRPr sz="3400" b="1">
                <a:solidFill>
                  <a:srgbClr val="FFFFFF"/>
                </a:solidFill>
                <a:latin typeface="Aptos Display"/>
              </a:defRPr>
            </a:pPr>
            <a:r>
              <a:t>If solar, wind, and hydropower are combined,</a:t>
            </a:r>
            <a:br/>
            <a:r>
              <a:t>will the portfolio always have the lowest CV?</a:t>
            </a:r>
          </a:p>
        </p:txBody>
      </p:sp>
      <p:sp>
        <p:nvSpPr>
          <p:cNvPr id="5" name="TextBox 4"/>
          <p:cNvSpPr txBox="1"/>
          <p:nvPr/>
        </p:nvSpPr>
        <p:spPr>
          <a:xfrm>
            <a:off x="1371600" y="4617720"/>
            <a:ext cx="9418320" cy="731520"/>
          </a:xfrm>
          <a:prstGeom prst="rect">
            <a:avLst/>
          </a:prstGeom>
          <a:noFill/>
        </p:spPr>
        <p:txBody>
          <a:bodyPr wrap="none">
            <a:spAutoFit/>
          </a:bodyPr>
          <a:lstStyle/>
          <a:p>
            <a:pPr algn="ctr">
              <a:defRPr sz="1900">
                <a:solidFill>
                  <a:srgbClr val="F3B61F"/>
                </a:solidFill>
                <a:latin typeface="Aptos"/>
              </a:defRPr>
            </a:pPr>
            <a:r>
              <a:t>CISO 2025 answer: no—the portfolio beats solar and wind, but not hydropower.</a:t>
            </a:r>
          </a:p>
        </p:txBody>
      </p:sp>
      <p:sp>
        <p:nvSpPr>
          <p:cNvPr id="6" name="Rectangle 5"/>
          <p:cNvSpPr/>
          <p:nvPr/>
        </p:nvSpPr>
        <p:spPr>
          <a:xfrm>
            <a:off x="594360" y="6547104"/>
            <a:ext cx="10972800" cy="18288"/>
          </a:xfrm>
          <a:prstGeom prst="rect">
            <a:avLst/>
          </a:prstGeom>
          <a:solidFill>
            <a:srgbClr val="ED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10881360" cy="182880"/>
          </a:xfrm>
          <a:prstGeom prst="rect">
            <a:avLst/>
          </a:prstGeom>
          <a:noFill/>
        </p:spPr>
        <p:txBody>
          <a:bodyPr wrap="none">
            <a:spAutoFit/>
          </a:bodyPr>
          <a:lstStyle/>
          <a:p>
            <a:pPr>
              <a:defRPr sz="800">
                <a:solidFill>
                  <a:srgbClr val="EDF4F1"/>
                </a:solidFill>
                <a:latin typeface="Aptos"/>
              </a:defRPr>
            </a:pPr>
            <a:r>
              <a:t>Shazab Ali · Renewable Grid Story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