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3B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300" b="1">
                <a:solidFill>
                  <a:srgbClr val="FFFFFF"/>
                </a:solidFill>
                <a:latin typeface="Aptos Display"/>
              </a:defRPr>
            </a:pPr>
            <a:r>
              <a:t>The Renewable Grid,</a:t>
            </a:r>
            <a:br/>
            <a:r>
              <a:t>Hour by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EDF4F1"/>
                </a:solidFill>
                <a:latin typeface="Aptos"/>
              </a:defRPr>
            </a:pPr>
            <a:r>
              <a:t>A six-view interactive story using 2025 EIA-930 data</a:t>
            </a:r>
            <a:br/>
            <a:r>
              <a:t>Shazab Ali · 13-minute explanation and 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ED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EDF4F1"/>
                </a:solidFill>
                <a:latin typeface="Aptos"/>
              </a:defRPr>
            </a:pPr>
            <a:r>
              <a:t>Shazab Ali · Renewable Grid Story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Question, audience,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Question: how do renewable patterns change across hours, seasons, and regions?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Audience: students, instructors, and interested public readers.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Design: context → rhythm → seasons → regions → variability → portfolio.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Guardrail: descriptive evidence, not dispatch causation or forecasting.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Reproducible data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47D64"/>
                </a:solidFill>
                <a:latin typeface="Aptos"/>
              </a:defRPr>
            </a:pPr>
            <a:r>
              <a:t>EIA-930 → verified archives → 35,040 hourly records → six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1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Verify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MD5 + SHA-256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2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Prepare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adjusted → imputed → 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3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Aggregate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solar + wind + hydro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423160" cy="214884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100" b="1">
                <a:solidFill>
                  <a:srgbClr val="F3B61F"/>
                </a:solidFill>
              </a:defRPr>
            </a:pPr>
            <a:r>
              <a:t>4</a:t>
            </a:r>
          </a:p>
          <a:p>
            <a:pPr algn="ctr">
              <a:defRPr sz="2000" b="1">
                <a:solidFill>
                  <a:srgbClr val="18302B"/>
                </a:solidFill>
              </a:defRPr>
            </a:pPr>
            <a:r>
              <a:t>Validate</a:t>
            </a:r>
          </a:p>
          <a:p>
            <a:pPr algn="ctr">
              <a:defRPr sz="1200">
                <a:solidFill>
                  <a:srgbClr val="147D64"/>
                </a:solidFill>
              </a:defRPr>
            </a:pPr>
            <a:r>
              <a:t>11 explicit checks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17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One-hour average MW sums to MWh; daily charts use available-hour means.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Validation is transparent—not “all clean”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10 / 11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validation checks passed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4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31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missing renewable/mix rows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0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aggregation mismatches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371600"/>
            <a:ext cx="2514600" cy="11430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 Display"/>
              </a:defRPr>
            </a:pPr>
            <a:r>
              <a:t>17</a:t>
            </a:r>
          </a:p>
          <a:p>
            <a:pPr algn="ctr">
              <a:defRPr sz="1000">
                <a:solidFill>
                  <a:srgbClr val="18302B"/>
                </a:solidFill>
                <a:latin typeface="Aptos"/>
              </a:defRPr>
            </a:pPr>
            <a: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All four authorities have 8,760 rows and continuous hourly UTC timestamps.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25 demand and net-generation values are also missing.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Gaps remain gaps and are disclosed beside each chart.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1 · Whole-system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Daily stacked mix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CISO June 15: solar leads at 35.1% of positive reported mix</a:t>
            </a:r>
          </a:p>
        </p:txBody>
      </p:sp>
      <p:pic>
        <p:nvPicPr>
          <p:cNvPr id="4" name="Picture 3" descr="view-1-generation-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2 · Hourly rhythm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Previous / Play / Next / Reset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Dynamic 23-, 24-, or 25-observation boundary</a:t>
            </a:r>
          </a:p>
        </p:txBody>
      </p:sp>
      <p:pic>
        <p:nvPicPr>
          <p:cNvPr id="4" name="Picture 3" descr="view-2-hourly-rhyt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3 · Annual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Daily means expose seasonal structure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Normalized = percent of each source’s own peak</a:t>
            </a:r>
          </a:p>
        </p:txBody>
      </p:sp>
      <p:pic>
        <p:nvPicPr>
          <p:cNvPr id="4" name="Picture 3" descr="view-3-source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4 ·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Matched source and dates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ERCO mean solar ≈ 1.36× CISO in 2025</a:t>
            </a:r>
          </a:p>
        </p:txBody>
      </p:sp>
      <p:pic>
        <p:nvPicPr>
          <p:cNvPr id="4" name="Picture 3" descr="view-4-regional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5 · Quantified variability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CISO solar mean 5,667.9 MW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CV 1.203; zero mean returns undefined</a:t>
            </a:r>
          </a:p>
        </p:txBody>
      </p:sp>
      <p:pic>
        <p:nvPicPr>
          <p:cNvPr id="4" name="Picture 3" descr="view-5-var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View 6 · Portfolio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251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CISO combined CV 0.590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Lower than solar/wind—not lower than hydro (0.463)</a:t>
            </a:r>
          </a:p>
        </p:txBody>
      </p:sp>
      <p:pic>
        <p:nvPicPr>
          <p:cNvPr id="4" name="Picture 3" descr="view-6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7086600" cy="384701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2025: scale and share tell different stories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CISO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90.8M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48.744%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20439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ERCO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182.8M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37.583%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NYIS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31.1M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23.500%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59" y="1508760"/>
            <a:ext cx="2468880" cy="2971800"/>
          </a:xfrm>
          <a:prstGeom prst="roundRect">
            <a:avLst/>
          </a:prstGeom>
          <a:solidFill>
            <a:srgbClr val="EDF4F1"/>
          </a:solidFill>
          <a:ln>
            <a:solidFill>
              <a:srgbClr val="147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PJM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72.3M MWh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renewable energy</a:t>
            </a:r>
          </a:p>
          <a:p>
            <a:pPr algn="ctr">
              <a:defRPr sz="2300" b="1">
                <a:solidFill>
                  <a:srgbClr val="147D64"/>
                </a:solidFill>
                <a:latin typeface="Aptos"/>
              </a:defRPr>
            </a:pPr>
            <a:r>
              <a:t>8.255%</a:t>
            </a:r>
          </a:p>
          <a:p>
            <a:pPr algn="ctr">
              <a:defRPr sz="1000" b="0">
                <a:solidFill>
                  <a:srgbClr val="18302B"/>
                </a:solidFill>
                <a:latin typeface="Aptos"/>
              </a:defRPr>
            </a:pPr>
            <a:r>
              <a:t>share of net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892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ERCO leads absolute renewable output; CISO leads renewable share.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302B"/>
                </a:solidFill>
                <a:latin typeface="Aptos Display"/>
              </a:defRPr>
            </a:pPr>
            <a:r>
              <a:t>Evaluation, limitations,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Completed: 17 tests; internal desktop/mobile rendering; playback and normalized controls.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Pending: two target-audience sessions—no human feedback is claimed.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Limits: one year, four authorities, reporting gaps, schematic map, descriptive CV.</a:t>
            </a:r>
          </a:p>
          <a:p>
            <a:pPr>
              <a:spcAft>
                <a:spcPts val="1200"/>
              </a:spcAft>
              <a:defRPr sz="1900">
                <a:solidFill>
                  <a:srgbClr val="18302B"/>
                </a:solidFill>
                <a:latin typeface="Aptos"/>
              </a:defRPr>
            </a:pPr>
            <a:r>
              <a:t>Verified Render deployment; local app and screenshots remain presentation backups.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147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8302B"/>
                </a:solidFill>
                <a:latin typeface="Aptos"/>
              </a:defRPr>
            </a:pPr>
            <a:r>
              <a:t>Shazab Ali · Renewable Grid Story             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 Display"/>
              </a:defRPr>
            </a:pPr>
            <a:r>
              <a:t>Class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EDF4F1"/>
                </a:solidFill>
                <a:latin typeface="Aptos"/>
              </a:defRPr>
            </a:pPr>
            <a:r>
              <a:t>Before the final demo result…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If solar, wind, and hydropower are combined,</a:t>
            </a:r>
            <a:br/>
            <a:r>
              <a:t>will the portfolio always have the lowest CV?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61772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3B61F"/>
                </a:solidFill>
                <a:latin typeface="Aptos"/>
              </a:defRPr>
            </a:pPr>
            <a:r>
              <a:t>CISO 2025 answer: no—the portfolio beats solar and wind, but not hydropower.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547104"/>
            <a:ext cx="10972800" cy="18288"/>
          </a:xfrm>
          <a:prstGeom prst="rect">
            <a:avLst/>
          </a:prstGeom>
          <a:solidFill>
            <a:srgbClr val="ED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583680"/>
            <a:ext cx="10881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EDF4F1"/>
                </a:solidFill>
                <a:latin typeface="Aptos"/>
              </a:defRPr>
            </a:pPr>
            <a:r>
              <a:t>Shazab Ali · Renewable Grid Story                                    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